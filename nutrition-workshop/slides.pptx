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タイトル。※日付はあとで差し替え。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自己紹介は1〜2分でテンポよく。「県ベスト16(1段目)から日本一(2段目)へ」のギャップにだけ触れる。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トーク:「こんなバスケット人生を送ってきたんですけど、大学の頃の体の写真はこれです」。笑いが起きるくらい堂々と。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「バスケ選手と思えない体ですよね。実際、やりすぎです」で笑わせてから、オレンジのカードで真面目に転調。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大きく言い切る。下の行は読み上げなくてよい。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「栄養関係ないじゃん!」というツッコミ(笑い)をあえて取りに行くスライド。ひと呼吸おいてから次へ。「ここまでハードに練習できたからこそ、日本一の選手たちと互角に戦えるようになった」と口頭で。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「悔しがるので、ここだけの秘密にしておいてください」で会場と共犯関係を作る。※写真4枚プレースホルダー。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トーンを落として真剣に。ここが講習全体のスイッチ。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タイトル(テーマ)の回収。ここで初めて今日のテーマの意味がわかる構成。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選手名が出たらその選手で話す(例:河村勇輝)。「その選手が食事管理をしていないと思う人?」と逆の挙手も面白い。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「◯◯さんは河村勇輝にはなれないけど、河村勇輝のように食事管理・栄養管理はできるはず」。県3位→県1位→ウィンターカップの階段で自分ごと化。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ピラミッドは下から指す。「どんなに練習しても、土台が細いと上に積めない。頭もカラダも食べた物からつくられる」。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書けない=思い出せない、がすでに気づき。メモは⑤タンパク質自己採点と、実践編のタイムライン作りで再利用する。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「食べてから来ている人?」とポジティブ側で挙手させる(保護者の前で選手を責めない)。人数を板書して可視化。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挙手でセルフチェック。「2つ以上ある人?」→ かなり手が挙がるはず。次の科学パートへの引き。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大人のアスリートより「割増し」が必要。成長分を削ると身長・骨・筋肉の伸びしろを削る。出典:柴田麗/公開講座p6の図を改変。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「エネルギー可用性」という専門用語は使わず家計簿で。次の3枚(研究)で“借金の代償”を数字で見せる。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「オリンピック委員会が公式に警告している」と言い切る。タイルは読み上げず2〜3個だけ指す。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数字は1つだけ、大きく。バスケも跳ぶ・着地する競技=骨への負担は大きい、と一言添える。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「練習しているのに筋肉が増えない・減っていく」状態。緑のカードが希望への伏線。朝ウェイトを空腹でやる問題もここに接続。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実体験と科学をつなぐ核の問い。「気合いが足りない」と答えが出たら最高。「それ、燃料の問題です」と返す。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ここまでが「危機感」。10秒くらい間を取る。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冒頭の「なぜ食事・栄養なのか」のコールバック。−27%の研究の続き(運動+タンパク質で回復)=やれば必ず効く、と接続。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正解はB(糖質)。「プロテインばかり気にして、ガソリンを入れ忘れている選手が多い」で次へ。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比喩は今日ずっと「車」で統一。C=動く・考えるエネルギー(バスケのメイン燃料)、P=筋肉・骨・血液の材料、F=ホルモンの材料。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糖質のタンク(筋肉・肝臓)は小さい→毎食+補食でこまめに補充。「糖質制限はアスリートには自殺行為」レベルで強調してよい。目安はACSM 2016。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体重60kgなら90〜115g。換算表と照らすとほぼ全員が不足に気づく(講師が言うより効く)。目安:高強度断続競技1.4〜1.7g/kg+成長期1割増し。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「脂質は少なければ少ないほど良い」は誤り(公開講座p9)。ふつうの定食を食べていれば自然と摂れる。PFCバランスの数字は口頭で軽く。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電卓(スマホ可)で各自計算→ペアで見せ合い。体格で1,000kcal近く差が出ることに驚かせる。ここが「3,000kcalは最低ライン」の根拠。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数字を1つに固定して合言葉にする。ふつうの3食では2,000〜2,400kcalしか取れない→足りない分は朝食増量+補食2回で埋める(次の実践編へ)。計算値が3,000を超えた選手は自分の数字が本当の目標。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「ごはん900g=茶碗6杯」で会場がざわつくポイント。1食2杯+補食と分解すれば現実的、と落とす。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※プレースホルダー:実際の時刻・内容をあとで記入。次の「おすすめの1日」と同じ形式なので対応が見える。「この食事があったから、あの練習量をこなせた」で締め。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核のスライド。3食は今より少し増やすだけ。合計約3,000kcal(朝ウェイト日3,150)。計算値が大きい選手は各食を増量。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チェックを1つずつ挙手で確認しながら進めると参加型になる。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親が持たせてくれたおにぎりは15:30に食べるのが正解(おにぎり問題スライドで回収)。出典:公開講座p23。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第4Qに足が止まる問い④の答え合わせをここで。水筒に水しか入れていない選手への具体的な変更指示。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エナドリは「カフェインが多くて高校生の練習用ではない」とはっきり。ポカリ約6%=研究の濃度と同じ、という接続。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「30分以内じゃないと無意味」ではない(最新の整理では1日の総量が最優先)。ただこのチームは翌朝7時ウェイトがあるので早めが理にかなう。高いサプリは不要。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保護者に一番伝えたいスライドの1つ。運動直後に食欲が落ちるのは生理的に普通。「めし1口」は鈴木志保子『理論と実践 スポーツ栄養学』(2018)。胃も練習で大きくなる。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クイズ:「ごはん300gとメロンパン、太りやすいのは?」と挙手させてから開く。続けて通い生向けコンビニ500円ワーク(ペア):練習前用と後用の2袋に分けるなら?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感謝から入る:おにぎりを持たせるサポートはすでに正解。変えるのは「何を」ではなく「いつ」。必要量は3,000kcal=お父さんの約1.4倍。特別な食材もサプリも不要。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鉄サプリの自己判断はNG(摂りすぎリスク)。「まず食事、気になったら検査」が現在のスタンダード。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宣言はコミットメント効果。書く→ペア→全体の順で。板書した挙手の数字を指して「次に会うとき、この数字を変えておいて」。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残り日数はその場で計算して見せると効く(講習日から予選日を逆算)。練習時間はライバル校と大差ない。差がつくのは残りの21時間。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締めは短く。振り返りの仕組み(写真共有・体重測定)を予告して終わる。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配布資料には各文献のリンク付き完全版を掲載(agenda.md参照)。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3794760"/>
            <a:ext cx="4206240" cy="4206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4526280"/>
            <a:ext cx="2743200" cy="2743200"/>
          </a:xfrm>
          <a:prstGeom prst="ellipse">
            <a:avLst/>
          </a:prstGeom>
          <a:ln w="25400">
            <a:solidFill>
              <a:srgbClr val="F466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高校バスケットボール部 栄養講習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食事は、いちばん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再現性の高いトレーニングだ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ウィンターカップへ、コートの外で差をつける 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2026年◯月◯日   講師:野宮 康平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自己紹介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野宮 康平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のみや こうへい(30歳)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千葉県市原市で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パーソナルジムを経営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理念:体と心両面から、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人生が前に進むきっかけを作る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737360"/>
            <a:ext cx="6217920" cy="1042416"/>
          </a:xfrm>
          <a:prstGeom prst="roundRect">
            <a:avLst>
              <a:gd name="adj" fmla="val 8772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650992" y="1993392"/>
            <a:ext cx="530352" cy="530352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10" name="Text 8"/>
          <p:cNvSpPr/>
          <p:nvPr/>
        </p:nvSpPr>
        <p:spPr>
          <a:xfrm>
            <a:off x="5650992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24" dirty="0"/>
          </a:p>
        </p:txBody>
      </p:sp>
      <p:sp>
        <p:nvSpPr>
          <p:cNvPr id="11" name="Text 9"/>
          <p:cNvSpPr/>
          <p:nvPr/>
        </p:nvSpPr>
        <p:spPr>
          <a:xfrm>
            <a:off x="6355080" y="1847088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18470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東海大学付属浦安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46920" y="184708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県ベスト16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94960" y="2926080"/>
            <a:ext cx="6217920" cy="1042416"/>
          </a:xfrm>
          <a:prstGeom prst="roundRect">
            <a:avLst>
              <a:gd name="adj" fmla="val 8772"/>
            </a:avLst>
          </a:prstGeom>
          <a:solidFill>
            <a:srgbClr val="FFF0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650992" y="3182112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16" name="Text 14"/>
          <p:cNvSpPr/>
          <p:nvPr/>
        </p:nvSpPr>
        <p:spPr>
          <a:xfrm>
            <a:off x="5650992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24" dirty="0"/>
          </a:p>
        </p:txBody>
      </p:sp>
      <p:sp>
        <p:nvSpPr>
          <p:cNvPr id="17" name="Text 15"/>
          <p:cNvSpPr/>
          <p:nvPr/>
        </p:nvSpPr>
        <p:spPr>
          <a:xfrm>
            <a:off x="6355080" y="3035808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52360" y="3035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東海大学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46920" y="30358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インカレ日本一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94960" y="4114800"/>
            <a:ext cx="6217920" cy="1042416"/>
          </a:xfrm>
          <a:prstGeom prst="roundRect">
            <a:avLst>
              <a:gd name="adj" fmla="val 8772"/>
            </a:avLst>
          </a:prstGeom>
          <a:solidFill>
            <a:srgbClr val="FFF0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650992" y="4370832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22" name="Text 20"/>
          <p:cNvSpPr/>
          <p:nvPr/>
        </p:nvSpPr>
        <p:spPr>
          <a:xfrm>
            <a:off x="5650992" y="4370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24" dirty="0"/>
          </a:p>
        </p:txBody>
      </p:sp>
      <p:sp>
        <p:nvSpPr>
          <p:cNvPr id="23" name="Text 21"/>
          <p:cNvSpPr/>
          <p:nvPr/>
        </p:nvSpPr>
        <p:spPr>
          <a:xfrm>
            <a:off x="6355080" y="4224528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4224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横河電機(実業団)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646920" y="422452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全国3位・千葉国体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394960" y="5303520"/>
            <a:ext cx="6217920" cy="1042416"/>
          </a:xfrm>
          <a:prstGeom prst="roundRect">
            <a:avLst>
              <a:gd name="adj" fmla="val 8772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5650992" y="5559552"/>
            <a:ext cx="530352" cy="530352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28" name="Text 26"/>
          <p:cNvSpPr/>
          <p:nvPr/>
        </p:nvSpPr>
        <p:spPr>
          <a:xfrm>
            <a:off x="5650992" y="5559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24" dirty="0"/>
          </a:p>
        </p:txBody>
      </p:sp>
      <p:sp>
        <p:nvSpPr>
          <p:cNvPr id="29" name="Text 27"/>
          <p:cNvSpPr/>
          <p:nvPr/>
        </p:nvSpPr>
        <p:spPr>
          <a:xfrm>
            <a:off x="6355080" y="5413248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54132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トレーナー → 起業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646920" y="5413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パーソナルジム経営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自己紹介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大学時代の体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ここに写真を挿入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(大学時代・体の写真)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23317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バスケと関係ないのに、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この筋肉。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……やりすぎでしょう?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自己紹介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社会人時代の体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ここに写真を挿入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(社会人時代・体の写真)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21031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ここまで、皆さんは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やらなくていい。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0" y="411480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FFF0E6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4114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ただ、この体は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バスケに効きました。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その結果──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県ベスト16の選手が、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日本代表クラスと互角に。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ジャンプ:リングに指先 → 肘まで  /  当たり負けゼロ  /  クイックネスそのまま筋肉量UP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自己紹介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なぜ、そんなことが可能だったのか?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理由:めちゃくちゃ練習したからです。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バスケの練習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週14回</a:t>
            </a:r>
            <a:endParaRPr lang="en-US" sz="6600" dirty="0"/>
          </a:p>
        </p:txBody>
      </p:sp>
      <p:sp>
        <p:nvSpPr>
          <p:cNvPr id="8" name="Shape 6"/>
          <p:cNvSpPr/>
          <p:nvPr/>
        </p:nvSpPr>
        <p:spPr>
          <a:xfrm>
            <a:off x="6309360" y="26517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筋トレ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09360" y="36576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週7回</a:t>
            </a:r>
            <a:endParaRPr lang="en-US" sz="6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自己紹介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一緒に戦っていた選手たち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78608" cy="2926080"/>
          </a:xfrm>
          <a:prstGeom prst="roundRect">
            <a:avLst>
              <a:gd name="adj" fmla="val 3546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寺園 脩斗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38144" y="1691640"/>
            <a:ext cx="2578608" cy="2926080"/>
          </a:xfrm>
          <a:prstGeom prst="roundRect">
            <a:avLst>
              <a:gd name="adj" fmla="val 3546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38144" y="1691640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38144" y="4754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西田 雄大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36208" y="1691640"/>
            <a:ext cx="2578608" cy="2926080"/>
          </a:xfrm>
          <a:prstGeom prst="roundRect">
            <a:avLst>
              <a:gd name="adj" fmla="val 3546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236208" y="1691640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6208" y="4754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大倉 颯太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34272" y="1691640"/>
            <a:ext cx="2578608" cy="2926080"/>
          </a:xfrm>
          <a:prstGeom prst="roundRect">
            <a:avLst>
              <a:gd name="adj" fmla="val 3546"/>
            </a:avLst>
          </a:prstGeom>
          <a:solidFill>
            <a:srgbClr val="F5F7FA"/>
          </a:solidFill>
          <a:ln w="19050">
            <a:solidFill>
              <a:srgbClr val="8A94A6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034272" y="1691640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34272" y="4754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坂本 聖芽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0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実はこの4人に、1on1で負けたことがありません。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じゃあ、なぜここまで練習ができて、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彼らに勝てるようになったのか?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食事・栄養を、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徹底していたから。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ここからが、今日の本題。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本題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なぜ「食事・栄養」なのか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0E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誰でも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再現できる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生理学は、全員に平等。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コントロールできる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2940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身長は選べない。今日の夕食は選べる。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食事は、いちばん再現性の高いトレーニング。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みんなで考える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508760" cy="1508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問い①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憧れの選手はいますか?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その選手は、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食事・栄養管理をしていると思う?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48920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数名に「誰に憧れてる?」と聞いてみる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本題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憧れの選手には、なれない。でも──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河村勇輝と同じ食事管理は、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今日からできる。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現在:県3位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42062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26280" y="41148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41148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県1位(県の代表)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18120" y="42062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6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412480" y="41148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4661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41148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ウィンターカップで勝つ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コントロールできることを、徹底する。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オープニング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パフォーマンスは「土台」から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92040" y="1783080"/>
            <a:ext cx="2377440" cy="969264"/>
          </a:xfrm>
          <a:prstGeom prst="roundRect">
            <a:avLst>
              <a:gd name="adj" fmla="val 7547"/>
            </a:avLst>
          </a:prstGeom>
          <a:solidFill>
            <a:srgbClr val="F4661F"/>
          </a:solidFill>
          <a:ln/>
        </p:spPr>
      </p:sp>
      <p:sp>
        <p:nvSpPr>
          <p:cNvPr id="5" name="Text 3"/>
          <p:cNvSpPr/>
          <p:nvPr/>
        </p:nvSpPr>
        <p:spPr>
          <a:xfrm>
            <a:off x="4892040" y="1783080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2862072"/>
            <a:ext cx="4023360" cy="969264"/>
          </a:xfrm>
          <a:prstGeom prst="roundRect">
            <a:avLst>
              <a:gd name="adj" fmla="val 7547"/>
            </a:avLst>
          </a:prstGeom>
          <a:solidFill>
            <a:srgbClr val="F4A81D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2862072"/>
            <a:ext cx="4023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心(強い気持ち)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3941064"/>
            <a:ext cx="5669280" cy="969264"/>
          </a:xfrm>
          <a:prstGeom prst="roundRect">
            <a:avLst>
              <a:gd name="adj" fmla="val 7547"/>
            </a:avLst>
          </a:prstGeom>
          <a:solidFill>
            <a:srgbClr val="26313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3941064"/>
            <a:ext cx="5669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トレーニング ・ 勉強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77440" y="5020056"/>
            <a:ext cx="7406640" cy="969264"/>
          </a:xfrm>
          <a:prstGeom prst="roundRect">
            <a:avLst>
              <a:gd name="adj" fmla="val 7547"/>
            </a:avLst>
          </a:prstGeom>
          <a:solidFill>
            <a:srgbClr val="FFF0E6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5020056"/>
            <a:ext cx="7406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栄養(食事)・ カラダ ・ 休養(睡眠)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今日の話は、いちばん下の段。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出典:柴田麗『ジュニアのためのスポーツ食事学』の図を改変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みんなで考える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508760" cy="1508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問い②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昨日食べたもの、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時刻つきで全部書き出せる?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34640" y="48920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1分で書く → お隣と30秒ずつシェア(あとで2回使うので捨てない!)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現状チェック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問い③:正直に、挙手!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987552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692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朝7時ウェイトの日、何か食べてから来ている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972800" cy="987552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9864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898648"/>
            <a:ext cx="9692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練習前(16時まで)に補食をとっている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10972800" cy="987552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14216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4014216"/>
            <a:ext cx="9692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練習中、スポーツドリンクを飲んでいる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5129784"/>
            <a:ext cx="10972800" cy="987552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9784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5129784"/>
            <a:ext cx="9692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練習後、夕食までに何か口にしている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挙手の人数をホワイトボードに記録 → 最後に「この数字を変えよう」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現状チェック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こんなサイン、ない?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だるい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34840" y="17830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783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疲れが取れない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0" y="17830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1783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集中力が続かない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肌荒れ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34840" y="31546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31546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冷え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34840" y="3154680"/>
            <a:ext cx="7178040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3154680"/>
            <a:ext cx="7178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2つ以上 → 燃料不足かも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気合いの問題じゃなくて、燃料の問題かもしれない。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出典:山梨学院短期大学公開講座(2021)鈴木睦代先生資料 p8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科学の話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君たちの必要量は「三階建て」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4023360"/>
            <a:ext cx="2377440" cy="1673352"/>
          </a:xfrm>
          <a:prstGeom prst="roundRect">
            <a:avLst>
              <a:gd name="adj" fmla="val 3279"/>
            </a:avLst>
          </a:prstGeom>
          <a:solidFill>
            <a:srgbClr val="26313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023360"/>
            <a:ext cx="23774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日常生活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870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4023360"/>
            <a:ext cx="2377440" cy="1673352"/>
          </a:xfrm>
          <a:prstGeom prst="roundRect">
            <a:avLst>
              <a:gd name="adj" fmla="val 3279"/>
            </a:avLst>
          </a:prstGeom>
          <a:solidFill>
            <a:srgbClr val="26313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4023360"/>
            <a:ext cx="23774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日常生活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3017520"/>
            <a:ext cx="2377440" cy="941832"/>
          </a:xfrm>
          <a:prstGeom prst="roundRect">
            <a:avLst>
              <a:gd name="adj" fmla="val 5825"/>
            </a:avLst>
          </a:prstGeom>
          <a:solidFill>
            <a:srgbClr val="F4A81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017520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5870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運動しない高校生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4023360"/>
            <a:ext cx="2377440" cy="1673352"/>
          </a:xfrm>
          <a:prstGeom prst="roundRect">
            <a:avLst>
              <a:gd name="adj" fmla="val 3279"/>
            </a:avLst>
          </a:prstGeom>
          <a:solidFill>
            <a:srgbClr val="263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4023360"/>
            <a:ext cx="23774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日常生活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2377440" cy="941832"/>
          </a:xfrm>
          <a:prstGeom prst="roundRect">
            <a:avLst>
              <a:gd name="adj" fmla="val 5825"/>
            </a:avLst>
          </a:prstGeom>
          <a:solidFill>
            <a:srgbClr val="F4A81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3017520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2377440" cy="1124712"/>
          </a:xfrm>
          <a:prstGeom prst="roundRect">
            <a:avLst>
              <a:gd name="adj" fmla="val 4878"/>
            </a:avLst>
          </a:prstGeom>
          <a:solidFill>
            <a:srgbClr val="F4661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トレーニング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5870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君たち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成長分は、今しかない。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科学の話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エネルギーの家計簿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E6F6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食事・補食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支出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練習・成長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03920" y="182880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FF0E6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5039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身体を作る分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残高マイナスのまま練習 = 借金しながらトレーニング。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身体は節約モードに入り、筋肉・骨・集中力から削られていく。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科学の話  |  研究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IOC(国際オリンピック委員会)の公式警告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エネルギー不足は、全身の機能を下げる。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骨(疲労骨折)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34840" y="25146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5146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0" y="25146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5146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集中力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4840" y="4023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40233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ホルモン・成長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0" y="4023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0233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心臓・血管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女子だけの問題ではない。男子にも普通に起こる。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出典:IOC consensus statement on REDs(Mountjoy et al., Br J Sports Med 2014/2023更新)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科学の話  |  研究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エネルギー不足の選手は、疲労骨折が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約4.5倍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怪我で1ヶ月休んだら、その間ライバルは練習している。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出典:Heikura IA, et al. Int J Sport Nutr Exerc Metab. 2018;28(4):403-411(エリート陸上選手の骨ストレス障害)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科学の話  |  研究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エネルギー不足だと、筋肉の合成が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−27%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1737360" y="489204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E6F6EE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でも、運動+タンパク質で回復する。やれば戻る。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出典:Areta JL, et al. Am J Physiol Endocrinol Metab. 2014(練習しても筋肉が作られにくくなる)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みんなで考える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508760" cy="1508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問い④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練習の後半、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足が動かなくなったこと、ある?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34640" y="48920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挙手 → 「原因は何だと思っていた?」を数名に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努力不足じゃない。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燃料不足かもしれない。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ガス欠で練習すると、上手くならないどころか、怪我が増えて筋肉が減る。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希望の話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食事は、努力が裏切らない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シュート練習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センスの影響が大きい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 △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0E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生理学は全員に平等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4023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 ◎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やれば、必ず効く。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みんなで考える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508760" cy="1508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バスケでメインに使われる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燃料はどれ?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834640" y="4434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A:タンパク質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0" y="4434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B:糖質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0" y="4434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C:脂質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挙手で!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身体は「車」。燃料は3つ(PFC)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0E6"/>
          </a:solidFill>
          <a:ln/>
        </p:spPr>
      </p:sp>
      <p:sp>
        <p:nvSpPr>
          <p:cNvPr id="5" name="Shape 3"/>
          <p:cNvSpPr/>
          <p:nvPr/>
        </p:nvSpPr>
        <p:spPr>
          <a:xfrm>
            <a:off x="1810512" y="2148840"/>
            <a:ext cx="1188720" cy="1188720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6" name="Text 4"/>
          <p:cNvSpPr/>
          <p:nvPr/>
        </p:nvSpPr>
        <p:spPr>
          <a:xfrm>
            <a:off x="1810512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ガソリン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605272" y="2148840"/>
            <a:ext cx="1188720" cy="1188720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11" name="Text 9"/>
          <p:cNvSpPr/>
          <p:nvPr/>
        </p:nvSpPr>
        <p:spPr>
          <a:xfrm>
            <a:off x="5605272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34840" y="3611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車体・部品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5D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00032" y="2148840"/>
            <a:ext cx="1188720" cy="1188720"/>
          </a:xfrm>
          <a:prstGeom prst="ellipse">
            <a:avLst/>
          </a:prstGeom>
          <a:solidFill>
            <a:srgbClr val="F4A81D"/>
          </a:solidFill>
          <a:ln/>
        </p:spPr>
      </p:sp>
      <p:sp>
        <p:nvSpPr>
          <p:cNvPr id="16" name="Text 14"/>
          <p:cNvSpPr/>
          <p:nvPr/>
        </p:nvSpPr>
        <p:spPr>
          <a:xfrm>
            <a:off x="9400032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29600" y="3611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脂質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エンジンオイル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覚えるのは、これだけ。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  |  C 糖質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糖質=ガソリン。抜くと、筋肉が燃やされる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0E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1日の目安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体重×6〜10g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ごはん茶碗1杯 = 糖質約55g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ごはん・パン・麺・もち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いも・バナナ・果物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補食なら:おにぎり・カステラ・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あんぱん・ゼリー・100%ジュース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脳の燃料でもある(判断力・シュートの精度)。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  |  P タンパク質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タンパク質=体の材料。毎食コツコツ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0E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1日の目安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体重×1.5〜1.9g</a:t>
            </a:r>
            <a:endParaRPr lang="en-US" sz="4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肉・魚 100g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約20g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卵 1個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約6g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納豆 1パック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約8g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牛乳 コップ1杯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約7g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34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434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ワーク:昨日の食事、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何gとれてた?(ペア2分)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2g/kgを超えて摂る必要はない(効果は頭打ち)。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  |  F 脂質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脂質=オイル。ゼロもNG、入れすぎもNG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6F6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良い油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青魚(サバ・イワシ)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卵・ナッツ・オリーブオイル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ホルモンの材料。成長期は必須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摂りすぎ注意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880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揚げ物・スナック菓子・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菓子パン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消化が遅い → 練習前は控えめに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  |  問い⑥ 計算ワーク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自分の必要カロリーを計算しよう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466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27.0 × 体重(kg) × 2.00 + 10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基礎代謝基準値 × あなたの体重 × バスケ3時間の係数 + 成長分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55kg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約2,980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34840" y="3977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60kg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47091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約3,250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229600" y="3977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70kg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約3,790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朝ウェイトは別途上乗せ。人と比べず、体重の推移で調整。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式・係数:日本人の食事摂取基準(2025年版)/競技別PAL表(バスケ・3時間練習=2.00)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チームの合言葉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kcal / 日(最低ライン)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5257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おにぎり約17個分  =  お父さんの約1.4倍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3,000kcalを食材にすると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食品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1日の目安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ごはん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900g(茶碗6杯=1食2杯)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肉/魚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肉100g+魚70g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卵/納豆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卵1個+納豆1パック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牛乳・乳製品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661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600ml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野菜/果物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野菜400g+果物200g+いも90g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8308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0E6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2057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定食の形にすれば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自然とバランスが整う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55280" y="3291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主食+主菜+副菜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+乳製品+果物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35240" y="43891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43891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アスリートは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副菜を+1品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この表は保護者の皆さんへ「買い物リスト」として配布します。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出典:山梨学院短期大学公開講座(2021)p18/国立スポーツ科学センター「ウイナーズレシピ」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体系知識  |  実例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私の大学時代の食事パターン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3657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時刻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食べていたもの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起床・朝食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午前練習/授業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昼食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筋トレ/午後練習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練習後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◯:◯◯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夕食/就寝前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(あとで記入)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7830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0E6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2103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週14練+週7筋トレを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支えた1日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2396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リアルな工夫も1つ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(学食・コンビニの使い方)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おすすめの1日(約3,000kcal)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585216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時刻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内容の例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kcal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6:15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ウェイト前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バナナ+ゼリー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朝食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ごはん大盛+卵+納豆+味噌汁+牛乳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12:30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昼食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弁当+パック牛乳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15:30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練習前補食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おにぎり1〜2個+バナナ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16-19時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練習中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スポーツドリンク約1L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19:05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練習直後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寮生:牛乳/通い生:おにぎり+牛乳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19:30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夕食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主食+主菜+副菜+汁物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21:30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就寝前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牛乳かヨーグルト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313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差がつくのは、オレンジの行。食事を3回 → 6回に。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補食セルフチェック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最後の食事から2〜3時間空いて練習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昼12:30→練習16:00。全員該当!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6207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86207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きつい練習・ウェイトをする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0" y="286207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毎日3時間+週3朝ウェイト。全員該当!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4106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941064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体重・筋量を増やしたい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3941064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増やしたい人?(挙手)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005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020056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練習後、夕食まで30分以上空く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0" y="5020056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通い生は特にここ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このチームは全員、補食が「必要」。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出典:山梨学院短期大学公開講座(2021)p22のチェックリストを本チームに当てはめ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練習前の補食は「残り時間」で選ぶ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 1.5〜2時間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おにぎり・巻き寿司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麺類・カステラ・あんぱん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食事寄りの糖質でOK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FF0E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 1時間以内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29400" y="2926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バナナ・ゼリー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100%ジュース・スポドリ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15:30の下校後・朝6:15はこちら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共通ルール:糖質中心・脂質少なめ。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練習中:2%の脱水でもう落ちる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4023360"/>
          </a:xfrm>
          <a:prstGeom prst="roundRect">
            <a:avLst>
              <a:gd name="adj" fmla="val 2273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−2%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6012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体重60kgなら汗1.2kg。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渇き・めまい・集中力低下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1783080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783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26680" y="17830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20〜40分前に 250〜500ml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06440" y="3172968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172968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26680" y="31729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1時間に500〜1,000ml、15分おき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806440" y="4562856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4562856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26680" y="4562856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市販スポーツドリンク(糖質約6%)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宿題:練習の前後に体重を測る。減った分 ≒ 汗の量。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12〜15歳バスケ選手:6%糖質電解質ドリンクは水よりシュート成功率とスプリント向上(Dougherty 2006)/公開講座p53-55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飲み物は「濃さ」で選ぶ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水・麦茶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練習前に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E6F6EE"/>
          </a:solidFill>
          <a:ln/>
        </p:spPr>
      </p:sp>
      <p:sp>
        <p:nvSpPr>
          <p:cNvPr id="10" name="Text 8"/>
          <p:cNvSpPr/>
          <p:nvPr/>
        </p:nvSpPr>
        <p:spPr>
          <a:xfrm>
            <a:off x="3438144" y="20116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9584" y="301752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ドリンク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38144" y="397764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75304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練習中はこれ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FDECEC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0116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27648" y="301752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サイダー・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ジュース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397764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73368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濃すぎて吸収が遅い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578608" cy="4114800"/>
          </a:xfrm>
          <a:prstGeom prst="roundRect">
            <a:avLst>
              <a:gd name="adj" fmla="val 3546"/>
            </a:avLst>
          </a:prstGeom>
          <a:solidFill>
            <a:srgbClr val="FD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9034272" y="201168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125712" y="301752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エナジー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ドリンク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34272" y="397764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カフェイン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71432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スポドリではない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サイダー500ml = スティックシュガー約11本分。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出典:公開講座p56-57(市販飲料の糖質量・エナジードリンクのカフェイン)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回復は3段階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練習直後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糖質+タンパク質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(バナナ+牛乳など)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103120"/>
            <a:ext cx="640080" cy="640080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55778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主食+主菜+副菜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(回復の本番)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103120"/>
            <a:ext cx="640080" cy="640080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93726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49640" y="3063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8時間以上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(成長ホルモン=超回復)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206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寮生:直後は牛乳程度で軽く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19:30の夕食が本番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5120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0E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51206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通い生:練習直後の補食が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最重要ポイント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「お腹いっぱいで食べられない」の解決策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FF0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02536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24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おにぎりは「練習前」に回す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15:30に食べれば2倍生きる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81528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81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24" dirty="0"/>
          </a:p>
        </p:txBody>
      </p:sp>
      <p:sp>
        <p:nvSpPr>
          <p:cNvPr id="12" name="Text 10"/>
          <p:cNvSpPr/>
          <p:nvPr/>
        </p:nvSpPr>
        <p:spPr>
          <a:xfrm>
            <a:off x="1645920" y="286207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直後は液体・半固形に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0" y="286207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牛乳・飲むヨーグルト・ゼリー・バナナ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60520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24" dirty="0"/>
          </a:p>
        </p:txBody>
      </p:sp>
      <p:sp>
        <p:nvSpPr>
          <p:cNvPr id="17" name="Text 15"/>
          <p:cNvSpPr/>
          <p:nvPr/>
        </p:nvSpPr>
        <p:spPr>
          <a:xfrm>
            <a:off x="1645920" y="3941064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分割する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0" y="3941064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半分を練習前、半分を練習後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239512"/>
            <a:ext cx="530352" cy="530352"/>
          </a:xfrm>
          <a:prstGeom prst="ellipse">
            <a:avLst/>
          </a:prstGeom>
          <a:solidFill>
            <a:srgbClr val="F4661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39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24" dirty="0"/>
          </a:p>
        </p:txBody>
      </p:sp>
      <p:sp>
        <p:nvSpPr>
          <p:cNvPr id="22" name="Text 20"/>
          <p:cNvSpPr/>
          <p:nvPr/>
        </p:nvSpPr>
        <p:spPr>
          <a:xfrm>
            <a:off x="1645920" y="502005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少食なら「めし1口」作戦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5020056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朝食に1口追加→1週間→昼も1口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原因はやる気じゃなく、タイミングと形。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実践編  |  クイズ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菓子パンは「菓子」であって「パン」ではない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6F6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 300g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468 kcal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A3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脂質 0.9g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5D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8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3484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メロンパン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3484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279 kcal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34840" y="4434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A8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脂質 8.4g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DECE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22960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クロワッサン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219 kcal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0" y="4434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23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脂質 13.4g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菓子パンは、ガソリンのふりをしたオイルの塊。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数値:公開講座p32(最終化時に食品成分表〈八訂〉で再確認)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保護者の皆さんへ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家庭でのお願いは、3つだけ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12264"/>
            <a:ext cx="585216" cy="585216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122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92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朝ごはんの「定食化」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760720" y="17830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ごはん+卵・納豆・魚+汁物(特に朝ウェイトの日)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483864"/>
            <a:ext cx="585216" cy="585216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838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92" dirty="0"/>
          </a:p>
        </p:txBody>
      </p:sp>
      <p:sp>
        <p:nvSpPr>
          <p:cNvPr id="12" name="Text 10"/>
          <p:cNvSpPr/>
          <p:nvPr/>
        </p:nvSpPr>
        <p:spPr>
          <a:xfrm>
            <a:off x="1737360" y="31546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補食セット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760720" y="31546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おにぎり+バナナ+パック牛乳。「練習前に食べてね」の一言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855464"/>
            <a:ext cx="585216" cy="585216"/>
          </a:xfrm>
          <a:prstGeom prst="ellipse">
            <a:avLst/>
          </a:prstGeom>
          <a:solidFill>
            <a:srgbClr val="2631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554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92" dirty="0"/>
          </a:p>
        </p:txBody>
      </p:sp>
      <p:sp>
        <p:nvSpPr>
          <p:cNvPr id="17" name="Text 15"/>
          <p:cNvSpPr/>
          <p:nvPr/>
        </p:nvSpPr>
        <p:spPr>
          <a:xfrm>
            <a:off x="1737360" y="45262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夕食に主菜+副菜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760720" y="45262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肉・魚・卵・大豆+野菜を一品ずつ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おかわりは、甘やかしではなくトレーニングです。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保護者の皆さんへ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プロテインは買うべき?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まず、食事とタイミングの見直しが先。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97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夕食が近いので基本不要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86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使うなら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食事の代わりにしない/認証マークのある製品を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74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骨と貧血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乳製品600ml/日+レバー・赤身肉・青菜。気になるときは血液検査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公開講座p40・42・48を2026年の考え方(食事優先・検査に基づく個別対応)で更新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みんなで考える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508760" cy="1508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問い⑦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明日からまず変える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「1つ」は何?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34640" y="48920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1分で書く → ペアで宣言 → 数名が全体に宣言(保護者からも一言)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ウィンターカップへの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1,100回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食事は1日3回+補食 = 年間約1,100回のトレーニング。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予選まで約120日 × 4回 ≒ 残り500回。勝ちにつなげるか、捨てるか。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103120"/>
            <a:ext cx="4023360" cy="40233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5120640"/>
            <a:ext cx="3566160" cy="35661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明日の朝ごはんが、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ウィンターカップへの1回目。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3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1週間後、補食の写真と練習前後の体重をチームで共有しよう。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66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参考文献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鈴木睦代「スポーツ栄養学を取り入れた中高生の食教育」山梨学院短期大学 公開講座, 2021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厚生労働省「日本人の食事摂取基準(2025年版)」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Mountjoy M, et al. IOC consensus statement on REDs. Br J Sports Med 2014/2023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Heikura IA, et al. Int J Sport Nutr Exerc Metab 2018(骨ストレス障害 約4.5倍)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Areta JL, et al. Am J Physiol 2014(筋タンパク質合成 −27%)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Dougherty KA, et al. Med Sci Sports Exerc 2006(2%脱水/6%糖質ドリンク)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Thomas DT, et al. ACSM/AND/DC Position Stand. 2016(糖質6〜10g/kg・タンパク質1.2〜2.0g/kg)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Kerksick CM, et al. ISSN Position Stand: Nutrient Timing. 2017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鈴木志保子「理論と実践 スポーツ栄養学」2018/柴田麗「ジュニアのためのスポーツ食事学」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日本スポーツ協会「スポーツ活動中の熱中症予防ガイドブック」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2026-08-08T07:32:24Z</dcterms:created>
  <dcterms:modified xsi:type="dcterms:W3CDTF">2026-08-08T07:32:24Z</dcterms:modified>
</cp:coreProperties>
</file>