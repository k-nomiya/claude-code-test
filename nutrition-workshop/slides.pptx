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【0:00-】タイトル。※日付はあとで差し替え。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自己紹介は1〜2分でテンポよく。「県ベスト16(1段目)からインカレ日本一(2段目)へ」のギャップにだけ触れておくと、次の問い①が効く。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※プレースホルダー:大学時代・社会人時代の写真を挿入してください(枠は削除してOK)。写真1枚につき一言エピソードがあると良い。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【0:00-10:00 オープニング】いきなり問いから。ペア30秒×2 → 2〜3名に発表してもらう。答えは言わずに次のスライドで種明かし。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実体験を自分の言葉で。※このあたりに経歴スライド(写真など)を後日追加予定。数字(週14回・週7回)ははっきり言う。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ピラミッドは下から指す。「今日は一番下の段の話。ここが細い選手が多い」。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【10:00-18:00 現状チェック】書けない=思い出せない、がすでに気づき。メモは⑥タンパク質自己採点と、実践編のタイムライン作りで再利用する。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「食べてから来ている人?」とポジティブ側で挙手させる(保護者の前で選手を責めない)。人数を板書して可視化。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【18:00-31:00 科学の話】大人のアスリートより「割増し」が必要という直感に反する事実。「お父さんより食べて当たり前」への布石。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「エネルギー可用性」という専門用語は使わず家計簿で。次の3枚(研究)で“借金の代償”を数字で見せる。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「オリンピック委員会が公式に警告している」と言い切る。タイルは読み上げず2〜3個だけ指す。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数字は1つだけ、大きく。バスケも跳ぶ・着地する競技=骨への負担は大きい、と一言添える。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下の緑カードが希望への伏線(セクション4)。「朝ウェイトを空腹でやる」ことの問題もここに接続する。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実体験と科学をつなぐ核の問い。「気合いが足りない」と答えが出たら最高。「それ、燃料の問題です」と返す。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ここまでが「危機感」。10秒くらい間を取る。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【31:00-36:00 希望の話】答えは全員わかる。「わかっているのにやっていないのはなぜ?」まで踏み込むと深まる。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左右対比で「才能は選べない、食事は選べる」を視覚化。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【36:00-54:00 体系知識】正解はB(糖質)。「プロテインばかり気にして、ガソリンを入れ忘れている選手が多い」で次へ。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比喩は今日ずっと「車」で統一。ガス欠(セクション3)ともつながる。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「糖質制限はアスリートには自殺行為」レベルで強調してよい(公開講座p9も同趣旨)。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体重60kgなら90〜115g。換算表と照らすとほぼ全員が不足に気づく。「講師が言う」より「自分で気づく」。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PFCバランスの数字(P13-20/F20-30/C50-65%)は口頭で軽く。「定食の形にすれば自然とこうなる」で十分。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電卓(スマホ可)で各自計算→ペアで見せ合い。体格で1,000kcal近く差が出ることに驚かせる。ここが「3,000kcalは最低ライン」の根拠。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数字を1つに固定して「合言葉」にする。おにぎり17個の換算は体感ワーク(ペア30秒)にしてもよい。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「ごはん900g=茶碗6杯」で会場がざわつくポイント。1食2杯+補食と分解すれば現実的、と落とす。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※プレースホルダー:実際の時刻・内容をあとで記入してください。次の「おすすめの1日」と同じタイムライン形式なので、対応が見えるように。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【54:00-73:00 実践編】核のスライド。合計約3,000kcal(朝ウェイト日3,150)。計算値が大きい選手は各食を増量。kcal列の単位はkcal。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チェックを1つずつ挙手で確認しながら進めると参加型になる。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親が持たせてくれたおにぎりは15:30に食べるのが正解、という話はおにぎり問題スライドで回収。出典:公開講座p23。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第4Qに足が止まる問い④の「答え合わせ」をここでする。水筒に水しか入れていない選手への具体的な変更指示。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エナドリは「カフェインが多くて高校生の練習用ではない」とはっきり。ポカリ約6%=研究の濃度と同じ、という接続。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「30分以内じゃないと無意味」ではない(最新の整理では総量優先)。ただこのチームは翌朝ウェイトがあるので早めが理にかなう、と正確に。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保護者に一番伝えたいスライドの1つ。「持たせているのに食べていない」問題は、量ではなくタイミングの再設計で解決する。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クイズ:「ごはん300gとメロンパン、太りやすいのは?」と挙手させてから開く。続けて通い生向けコンビニ500円ワーク(ペア)。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【73:00-79:00 保護者パート】感謝から入る。特別な食材もサプリも不要、いつものご飯の量とタイミング、で締める。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鉄サプリの自己判断はNG(摂りすぎリスク)。「まず食事、気になったら検査」が現在のスタンダード。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【79:00-87:00 クロージング】宣言はコミットメント効果。書く→ペア→全体の順で。板書した挙手の数字を指して「次に会うとき、この数字を変えておいて」。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残り日数はその場で計算して見せると効く(講習日から予選日を逆算)。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締めは短く。振り返りの仕組み(写真共有・体重測定)を予告して終わる。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配布資料には各文献のリンク付き完全版を掲載(agenda.md参照)。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3931920"/>
            <a:ext cx="3840480" cy="384048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3" name="Shape 1"/>
          <p:cNvSpPr/>
          <p:nvPr/>
        </p:nvSpPr>
        <p:spPr>
          <a:xfrm>
            <a:off x="9052560" y="-1737360"/>
            <a:ext cx="2834640" cy="2834640"/>
          </a:xfrm>
          <a:prstGeom prst="ellipse">
            <a:avLst/>
          </a:prstGeom>
          <a:ln w="25400">
            <a:solidFill>
              <a:srgbClr val="2A3C6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高校バスケットボール部 栄養講習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食事は、いちばん再現性の高い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トレーニングだ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40690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〜 ウィンターカップへ、コートの外で差をつける 〜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58064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2026年◯月◯日   講師:野宮 康平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00 自己紹介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自己紹介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297680" cy="4526280"/>
          </a:xfrm>
          <a:prstGeom prst="roundRect">
            <a:avLst>
              <a:gd name="adj" fmla="val 1702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202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野宮 康平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6868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のみや こうへい(30歳)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32004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千葉県市原市で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パーソナルジムを経営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4297680"/>
            <a:ext cx="3749040" cy="1600200"/>
          </a:xfrm>
          <a:prstGeom prst="roundRect">
            <a:avLst>
              <a:gd name="adj" fmla="val 4571"/>
            </a:avLst>
          </a:prstGeom>
          <a:solidFill>
            <a:srgbClr val="FDEBE0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446227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企業理念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48006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体と心両面から、人生が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前に進むきっかけを作る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120640" y="1600200"/>
            <a:ext cx="6492240" cy="1024128"/>
          </a:xfrm>
          <a:prstGeom prst="roundRect">
            <a:avLst>
              <a:gd name="adj" fmla="val 7143"/>
            </a:avLst>
          </a:prstGeom>
          <a:solidFill>
            <a:srgbClr val="F2F5FA"/>
          </a:solidFill>
          <a:ln/>
        </p:spPr>
      </p:sp>
      <p:sp>
        <p:nvSpPr>
          <p:cNvPr id="12" name="Shape 10"/>
          <p:cNvSpPr/>
          <p:nvPr/>
        </p:nvSpPr>
        <p:spPr>
          <a:xfrm>
            <a:off x="5376672" y="1865376"/>
            <a:ext cx="493776" cy="493776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5376672" y="186537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035040" y="1709928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高校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995160" y="1709928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東海大学付属浦安高等学校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995160" y="2093976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県ベスト16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20640" y="2770632"/>
            <a:ext cx="6492240" cy="1024128"/>
          </a:xfrm>
          <a:prstGeom prst="roundRect">
            <a:avLst>
              <a:gd name="adj" fmla="val 7143"/>
            </a:avLst>
          </a:prstGeom>
          <a:solidFill>
            <a:srgbClr val="FDEBE0"/>
          </a:solidFill>
          <a:ln/>
        </p:spPr>
      </p:sp>
      <p:sp>
        <p:nvSpPr>
          <p:cNvPr id="18" name="Shape 16"/>
          <p:cNvSpPr/>
          <p:nvPr/>
        </p:nvSpPr>
        <p:spPr>
          <a:xfrm>
            <a:off x="5376672" y="3035808"/>
            <a:ext cx="493776" cy="493776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19" name="Text 17"/>
          <p:cNvSpPr/>
          <p:nvPr/>
        </p:nvSpPr>
        <p:spPr>
          <a:xfrm>
            <a:off x="5376672" y="303580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035040" y="2880360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995160" y="2880360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東海大学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995160" y="3264408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インカレ 日本一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120640" y="3941064"/>
            <a:ext cx="6492240" cy="1024128"/>
          </a:xfrm>
          <a:prstGeom prst="roundRect">
            <a:avLst>
              <a:gd name="adj" fmla="val 7143"/>
            </a:avLst>
          </a:prstGeom>
          <a:solidFill>
            <a:srgbClr val="FDEBE0"/>
          </a:solidFill>
          <a:ln/>
        </p:spPr>
      </p:sp>
      <p:sp>
        <p:nvSpPr>
          <p:cNvPr id="24" name="Shape 22"/>
          <p:cNvSpPr/>
          <p:nvPr/>
        </p:nvSpPr>
        <p:spPr>
          <a:xfrm>
            <a:off x="5376672" y="4206240"/>
            <a:ext cx="493776" cy="493776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25" name="Text 23"/>
          <p:cNvSpPr/>
          <p:nvPr/>
        </p:nvSpPr>
        <p:spPr>
          <a:xfrm>
            <a:off x="5376672" y="42062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035040" y="4050792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社会人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995160" y="4050792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横河電機(実業団バスケットボール部)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995160" y="4434840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全国3位・千葉国体選手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120640" y="5111496"/>
            <a:ext cx="6492240" cy="1024128"/>
          </a:xfrm>
          <a:prstGeom prst="roundRect">
            <a:avLst>
              <a:gd name="adj" fmla="val 7143"/>
            </a:avLst>
          </a:prstGeom>
          <a:solidFill>
            <a:srgbClr val="F2F5FA"/>
          </a:solidFill>
          <a:ln/>
        </p:spPr>
      </p:sp>
      <p:sp>
        <p:nvSpPr>
          <p:cNvPr id="30" name="Shape 28"/>
          <p:cNvSpPr/>
          <p:nvPr/>
        </p:nvSpPr>
        <p:spPr>
          <a:xfrm>
            <a:off x="5376672" y="5376672"/>
            <a:ext cx="493776" cy="493776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1" name="Text 29"/>
          <p:cNvSpPr/>
          <p:nvPr/>
        </p:nvSpPr>
        <p:spPr>
          <a:xfrm>
            <a:off x="5376672" y="537667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035040" y="5221224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現在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995160" y="5221224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現役引退後、パーソナルトレーナーへ転職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995160" y="5605272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役員経験を経て起業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00 自己紹介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現役時代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49240" cy="3749040"/>
          </a:xfrm>
          <a:prstGeom prst="roundRect">
            <a:avLst>
              <a:gd name="adj" fmla="val 1951"/>
            </a:avLst>
          </a:prstGeom>
          <a:solidFill>
            <a:srgbClr val="F2F5FA"/>
          </a:solidFill>
          <a:ln w="19050">
            <a:solidFill>
              <a:srgbClr val="5A6472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48640" y="31089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ここに写真を挿入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553212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大学時代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598932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東海大学(インカレ日本一)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645920"/>
            <a:ext cx="5349240" cy="3749040"/>
          </a:xfrm>
          <a:prstGeom prst="roundRect">
            <a:avLst>
              <a:gd name="adj" fmla="val 1951"/>
            </a:avLst>
          </a:prstGeom>
          <a:solidFill>
            <a:srgbClr val="F2F5FA"/>
          </a:solidFill>
          <a:ln w="19050">
            <a:solidFill>
              <a:srgbClr val="5A6472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263640" y="31089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ここに写真を挿入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263640" y="553212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社会人時代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263640" y="598932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横河電機(全国3位)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みんなで考える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417320" cy="141732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問い①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743200" y="1554480"/>
            <a:ext cx="8595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リングに指先しか届かなかった選手が、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肘まで跳べるようになった。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その選手は、何をしたと思う?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743200" y="47091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お隣の人と30秒ずつ予想をシェア → 数名に発表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 オープニング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種明かし:これは、私自身の話です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2F5FA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37944"/>
            <a:ext cx="457200" cy="45720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37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170992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県ベスト16レベル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760720" y="1709928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高校時代の自分。特別な選手ではなかった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679192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2F5FA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2916936"/>
            <a:ext cx="457200" cy="45720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916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東海大バスケ部へ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760720" y="278892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プロ・日本代表クラスの選手たちと毎日プレー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758184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2F5FA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3995928"/>
            <a:ext cx="457200" cy="45720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995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63040" y="386791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週14回バスケ+週7回筋トレ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760720" y="3867912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この練習量を「こなしきれる身体」を食事で作った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837176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2F5F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7240" y="5074920"/>
            <a:ext cx="457200" cy="45720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463040" y="4946904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日本を代表するガードと互角に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760720" y="4946904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ジャンプ:指先→肘まで/当たり負けゼロ/クイックネスを保ったまま筋肉量UP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5989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才能で上がったんじゃない。ハードな練習を“こなしきれる身体”を食事で作ったから上がれた。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 オープニング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パフォーマンスは「土台」から積み上がる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120640" y="164592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E8622C"/>
          </a:solidFill>
          <a:ln/>
        </p:spPr>
      </p:sp>
      <p:sp>
        <p:nvSpPr>
          <p:cNvPr id="5" name="Text 3"/>
          <p:cNvSpPr/>
          <p:nvPr/>
        </p:nvSpPr>
        <p:spPr>
          <a:xfrm>
            <a:off x="5120640" y="16459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480560" y="2670048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2A3C66"/>
          </a:solidFill>
          <a:ln/>
        </p:spPr>
      </p:sp>
      <p:sp>
        <p:nvSpPr>
          <p:cNvPr id="7" name="Text 5"/>
          <p:cNvSpPr/>
          <p:nvPr/>
        </p:nvSpPr>
        <p:spPr>
          <a:xfrm>
            <a:off x="4480560" y="2670048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心(強い気持ち)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0" y="3694176"/>
            <a:ext cx="4937760" cy="914400"/>
          </a:xfrm>
          <a:prstGeom prst="roundRect">
            <a:avLst>
              <a:gd name="adj" fmla="val 6000"/>
            </a:avLst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0" y="3694176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トレーニング ・ 勉強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834640" y="4718304"/>
            <a:ext cx="6583680" cy="9144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/>
        </p:spPr>
      </p:sp>
      <p:sp>
        <p:nvSpPr>
          <p:cNvPr id="11" name="Text 9"/>
          <p:cNvSpPr/>
          <p:nvPr/>
        </p:nvSpPr>
        <p:spPr>
          <a:xfrm>
            <a:off x="2834640" y="4718304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栄養(食事) ・ カラダ ・ 休養(睡眠)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0" y="292608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どんなに練習しても、土台が細いと上に積めない。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頭もカラダも、食べた物からつくられる。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出典:柴田麗『ジュニアのためのスポーツ食事学』の図を改変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みんなで考える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417320" cy="141732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問い②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743200" y="1554480"/>
            <a:ext cx="8595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昨日食べたもの・飲んだものを、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時刻つきで全部書き出してみよう。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743200" y="47091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1分で書く → お隣と30秒ずつシェア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743200" y="530352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※このメモはあとで2回使います。捨てないで!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 現状チェック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問い③:正直に、挙手!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食事の習慣チェック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□ 朝7時ウェイトの日、何か食べてから来ている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□ 練習前(16時まで)に補食をとっている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□ 練習中、水以外(スポーツドリンク)を飲んでいる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□ 練習後、夕食までの間に何か口にしている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09360" y="1554480"/>
            <a:ext cx="5303520" cy="4206240"/>
          </a:xfrm>
          <a:prstGeom prst="roundRect">
            <a:avLst>
              <a:gd name="adj" fmla="val 1739"/>
            </a:avLst>
          </a:prstGeom>
          <a:solidFill>
            <a:srgbClr val="FBEAE8"/>
          </a:solidFill>
          <a:ln/>
        </p:spPr>
      </p:sp>
      <p:sp>
        <p:nvSpPr>
          <p:cNvPr id="8" name="Text 6"/>
          <p:cNvSpPr/>
          <p:nvPr/>
        </p:nvSpPr>
        <p:spPr>
          <a:xfrm>
            <a:off x="6629400" y="1783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エネルギー不足のサイン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629400" y="228600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□ なんとなく、だるい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□ 疲れが取れない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□ 集中力が続かない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□ 肌荒れ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□ 冷え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629400" y="51206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2つ以上 → 燃料の問題かも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挙手の人数をホワイトボードに記録 → 今日の講習の最後に「この数字を変えよう」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サイン:山梨学院短期大学公開講座(2021)鈴木睦代先生資料 p8 より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 科学の話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君たちの必要量は「三階建て」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188720" y="3886200"/>
            <a:ext cx="2103120" cy="1499616"/>
          </a:xfrm>
          <a:prstGeom prst="roundRect">
            <a:avLst>
              <a:gd name="adj" fmla="val 3049"/>
            </a:avLst>
          </a:prstGeom>
          <a:solidFill>
            <a:srgbClr val="2A3C66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3886200"/>
            <a:ext cx="210312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日常生活の分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68680" y="555040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大人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0" y="3886200"/>
            <a:ext cx="2103120" cy="1499616"/>
          </a:xfrm>
          <a:prstGeom prst="roundRect">
            <a:avLst>
              <a:gd name="adj" fmla="val 3049"/>
            </a:avLst>
          </a:prstGeom>
          <a:solidFill>
            <a:srgbClr val="2A3C66"/>
          </a:solidFill>
          <a:ln/>
        </p:spPr>
      </p:sp>
      <p:sp>
        <p:nvSpPr>
          <p:cNvPr id="8" name="Text 6"/>
          <p:cNvSpPr/>
          <p:nvPr/>
        </p:nvSpPr>
        <p:spPr>
          <a:xfrm>
            <a:off x="4297680" y="3886200"/>
            <a:ext cx="210312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日常生活の分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97680" y="2971800"/>
            <a:ext cx="2103120" cy="859536"/>
          </a:xfrm>
          <a:prstGeom prst="roundRect">
            <a:avLst>
              <a:gd name="adj" fmla="val 5319"/>
            </a:avLst>
          </a:prstGeom>
          <a:solidFill>
            <a:srgbClr val="F0A202"/>
          </a:solidFill>
          <a:ln/>
        </p:spPr>
      </p:sp>
      <p:sp>
        <p:nvSpPr>
          <p:cNvPr id="10" name="Text 8"/>
          <p:cNvSpPr/>
          <p:nvPr/>
        </p:nvSpPr>
        <p:spPr>
          <a:xfrm>
            <a:off x="4297680" y="2971800"/>
            <a:ext cx="21031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成長の分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977640" y="555040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スポーツをしていない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中高生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406640" y="3886200"/>
            <a:ext cx="2103120" cy="1499616"/>
          </a:xfrm>
          <a:prstGeom prst="roundRect">
            <a:avLst>
              <a:gd name="adj" fmla="val 3049"/>
            </a:avLst>
          </a:prstGeom>
          <a:solidFill>
            <a:srgbClr val="2A3C66"/>
          </a:solidFill>
          <a:ln/>
        </p:spPr>
      </p:sp>
      <p:sp>
        <p:nvSpPr>
          <p:cNvPr id="13" name="Text 11"/>
          <p:cNvSpPr/>
          <p:nvPr/>
        </p:nvSpPr>
        <p:spPr>
          <a:xfrm>
            <a:off x="7406640" y="3886200"/>
            <a:ext cx="210312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日常生活の分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406640" y="2971800"/>
            <a:ext cx="2103120" cy="859536"/>
          </a:xfrm>
          <a:prstGeom prst="roundRect">
            <a:avLst>
              <a:gd name="adj" fmla="val 5319"/>
            </a:avLst>
          </a:prstGeom>
          <a:solidFill>
            <a:srgbClr val="F0A202"/>
          </a:solidFill>
          <a:ln/>
        </p:spPr>
      </p:sp>
      <p:sp>
        <p:nvSpPr>
          <p:cNvPr id="15" name="Text 13"/>
          <p:cNvSpPr/>
          <p:nvPr/>
        </p:nvSpPr>
        <p:spPr>
          <a:xfrm>
            <a:off x="7406640" y="2971800"/>
            <a:ext cx="21031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成長の分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406640" y="1874520"/>
            <a:ext cx="2103120" cy="1042416"/>
          </a:xfrm>
          <a:prstGeom prst="roundRect">
            <a:avLst>
              <a:gd name="adj" fmla="val 4386"/>
            </a:avLst>
          </a:prstGeom>
          <a:solidFill>
            <a:srgbClr val="E8622C"/>
          </a:solidFill>
          <a:ln/>
        </p:spPr>
      </p:sp>
      <p:sp>
        <p:nvSpPr>
          <p:cNvPr id="17" name="Text 15"/>
          <p:cNvSpPr/>
          <p:nvPr/>
        </p:nvSpPr>
        <p:spPr>
          <a:xfrm>
            <a:off x="7406640" y="1874520"/>
            <a:ext cx="21031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トレーニングの分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086600" y="555040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スポーツをしている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中高生(君たち)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784080" y="2377440"/>
            <a:ext cx="2103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成長分は「今しかない」。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ここを削ると、身長・骨・筋肉の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伸びしろを削ることになる。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出典:柴田麗『ジュニアのためのスポーツ食事学』/山梨学院短期大学公開講座(2021)p6 の図を改変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 科学の話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エネルギーの家計簿:残高で身体は作られる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2926080" cy="1920240"/>
          </a:xfrm>
          <a:prstGeom prst="roundRect">
            <a:avLst>
              <a:gd name="adj" fmla="val 3810"/>
            </a:avLst>
          </a:prstGeom>
          <a:solidFill>
            <a:srgbClr val="E4F1E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05740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収入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食事・補食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17720" y="1828800"/>
            <a:ext cx="2926080" cy="1920240"/>
          </a:xfrm>
          <a:prstGeom prst="roundRect">
            <a:avLst>
              <a:gd name="adj" fmla="val 3810"/>
            </a:avLst>
          </a:prstGeom>
          <a:solidFill>
            <a:srgbClr val="FBEAE8"/>
          </a:solidFill>
          <a:ln/>
        </p:spPr>
      </p:sp>
      <p:sp>
        <p:nvSpPr>
          <p:cNvPr id="8" name="Text 6"/>
          <p:cNvSpPr/>
          <p:nvPr/>
        </p:nvSpPr>
        <p:spPr>
          <a:xfrm>
            <a:off x="4617720" y="205740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支出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61772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練習・ウェイト・成長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828800"/>
            <a:ext cx="2926080" cy="1920240"/>
          </a:xfrm>
          <a:prstGeom prst="roundRect">
            <a:avLst>
              <a:gd name="adj" fmla="val 3810"/>
            </a:avLst>
          </a:prstGeom>
          <a:solidFill>
            <a:srgbClr val="FDEBE0"/>
          </a:solidFill>
          <a:ln/>
        </p:spPr>
      </p:sp>
      <p:sp>
        <p:nvSpPr>
          <p:cNvPr id="11" name="Text 9"/>
          <p:cNvSpPr/>
          <p:nvPr/>
        </p:nvSpPr>
        <p:spPr>
          <a:xfrm>
            <a:off x="8503920" y="205740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残高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50392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身体を作る・回復する分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4904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763524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10698480" cy="1554480"/>
          </a:xfrm>
          <a:prstGeom prst="roundRect">
            <a:avLst>
              <a:gd name="adj" fmla="val 4706"/>
            </a:avLst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4526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残高マイナスのまま練習する = 借金しながらトレーニングしている状態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51560" y="5120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身体は「節約モード」に入り、筋肉・骨・集中力から削られていく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 科学の話  |  研究 1/3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IOC(国際オリンピック委員会)の公式警告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エネルギー不足(REDs)は、全身の機能を下げる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5204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骨(疲労骨折)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343400" y="2240280"/>
            <a:ext cx="35204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/>
        </p:spPr>
      </p:sp>
      <p:sp>
        <p:nvSpPr>
          <p:cNvPr id="8" name="Text 6"/>
          <p:cNvSpPr/>
          <p:nvPr/>
        </p:nvSpPr>
        <p:spPr>
          <a:xfrm>
            <a:off x="452628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筋肉が作られない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138160" y="2240280"/>
            <a:ext cx="35204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/>
        </p:spPr>
      </p:sp>
      <p:sp>
        <p:nvSpPr>
          <p:cNvPr id="10" name="Text 8"/>
          <p:cNvSpPr/>
          <p:nvPr/>
        </p:nvSpPr>
        <p:spPr>
          <a:xfrm>
            <a:off x="832104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免疫(風邪・体調不良)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3611880"/>
            <a:ext cx="35204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118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集中力・判断力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4343400" y="3611880"/>
            <a:ext cx="35204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/>
        </p:spPr>
      </p:sp>
      <p:sp>
        <p:nvSpPr>
          <p:cNvPr id="14" name="Text 12"/>
          <p:cNvSpPr/>
          <p:nvPr/>
        </p:nvSpPr>
        <p:spPr>
          <a:xfrm>
            <a:off x="4526280" y="36118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ホルモン・成長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8138160" y="3611880"/>
            <a:ext cx="35204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36118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心臓・血管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DEBE0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25780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女子だけの問題ではない。男子にも普通に起こる(2023年更新の最新見解)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出典:IOC consensus statement on REDs(Mountjoy et al., Br J Sports Med 2014 / 2023更新)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 科学の話  |  研究 2/3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エネルギー不足の選手は、疲労骨折が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E862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約4.5倍</a:t>
            </a:r>
            <a:endParaRPr lang="en-US" sz="12000" dirty="0"/>
          </a:p>
        </p:txBody>
      </p:sp>
      <p:sp>
        <p:nvSpPr>
          <p:cNvPr id="5" name="Text 3"/>
          <p:cNvSpPr/>
          <p:nvPr/>
        </p:nvSpPr>
        <p:spPr>
          <a:xfrm>
            <a:off x="1371600" y="4297680"/>
            <a:ext cx="9418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エリート陸上選手の調査。エネルギー不足の選手は骨のストレス性障害(疲労骨折など)が約4.5倍だった。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骨密度・骨強度が下がり、貧血にもつながる。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377440" y="5440680"/>
            <a:ext cx="7406640" cy="685800"/>
          </a:xfrm>
          <a:prstGeom prst="roundRect">
            <a:avLst>
              <a:gd name="adj" fmla="val 10667"/>
            </a:avLst>
          </a:prstGeom>
          <a:solidFill>
            <a:srgbClr val="F2F5FA"/>
          </a:solidFill>
          <a:ln/>
        </p:spPr>
      </p:sp>
      <p:sp>
        <p:nvSpPr>
          <p:cNvPr id="7" name="Text 5"/>
          <p:cNvSpPr/>
          <p:nvPr/>
        </p:nvSpPr>
        <p:spPr>
          <a:xfrm>
            <a:off x="2377440" y="544068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怪我で1ヶ月離脱したら、その間ライバルは練習している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出典:Heikura IA, et al. Int J Sport Nutr Exerc Metab. 2018;28(4):403-411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 科学の話  |  研究 3/3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エネルギー不足だと、筋肉の合成が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E862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−27%</a:t>
            </a:r>
            <a:endParaRPr lang="en-US" sz="12000" dirty="0"/>
          </a:p>
        </p:txBody>
      </p:sp>
      <p:sp>
        <p:nvSpPr>
          <p:cNvPr id="5" name="Text 3"/>
          <p:cNvSpPr/>
          <p:nvPr/>
        </p:nvSpPr>
        <p:spPr>
          <a:xfrm>
            <a:off x="1371600" y="425196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エネルギーが足りない状態では、筋肉を作る工場の稼働率が27%落ちる。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「練習しているのに筋肉が増えない・減っていく」状態。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737360" y="5349240"/>
            <a:ext cx="8686800" cy="777240"/>
          </a:xfrm>
          <a:prstGeom prst="roundRect">
            <a:avLst>
              <a:gd name="adj" fmla="val 9412"/>
            </a:avLst>
          </a:prstGeom>
          <a:solidFill>
            <a:srgbClr val="E4F1EA"/>
          </a:solidFill>
          <a:ln/>
        </p:spPr>
      </p:sp>
      <p:sp>
        <p:nvSpPr>
          <p:cNvPr id="7" name="Text 5"/>
          <p:cNvSpPr/>
          <p:nvPr/>
        </p:nvSpPr>
        <p:spPr>
          <a:xfrm>
            <a:off x="1737360" y="534924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E7D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ただし:運動後にタンパク質を摂れば、合成は回復する = やれば戻る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出典:Areta JL, et al. Am J Physiol Endocrinol Metab. 2014;306(8):E989-E997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みんなで考える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417320" cy="141732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問い④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743200" y="1554480"/>
            <a:ext cx="8595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練習の後半、足が動かない・集中が切れる・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シュートが落ちる。心当たりある人?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743200" y="47091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挙手 → 「原因は何だと思っていた?」を数名に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572000"/>
            <a:ext cx="3291840" cy="3291840"/>
          </a:xfrm>
          <a:prstGeom prst="ellipse">
            <a:avLst/>
          </a:prstGeom>
          <a:ln w="25400">
            <a:solidFill>
              <a:srgbClr val="2A3C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103120"/>
            <a:ext cx="10332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頑張っているのに強くなれないのは、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努力不足ではなく、燃料不足かもしれない。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397764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ガス欠で練習すると、上手くならないどころか、怪我が増えて筋肉が減る。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みんなで考える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417320" cy="141732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問い⑤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743200" y="1554480"/>
            <a:ext cx="8595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身長・才能・食事。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この中で、今日から自分の意思で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変えられるのはどれ?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743200" y="47091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ペアで1分 → 数ペアが全体にシェア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 希望の話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食事は、努力が裏切らない数少ない分野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4023360"/>
          </a:xfrm>
          <a:prstGeom prst="roundRect">
            <a:avLst>
              <a:gd name="adj" fmla="val 1818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20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シュート練習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1万本打っても、入るようになるかは人による。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センス・体格の影響が大きい。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68680" y="48463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再現性:△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172200" y="1645920"/>
            <a:ext cx="5440680" cy="4023360"/>
          </a:xfrm>
          <a:prstGeom prst="roundRect">
            <a:avLst>
              <a:gd name="adj" fmla="val 1818"/>
            </a:avLst>
          </a:prstGeom>
          <a:solidFill>
            <a:srgbClr val="FDEBE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920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92240" y="246888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生理学は全員に平等。正しく食べれば、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誰の身体でも必ず反応する。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エネルギー不足でも「運動+タンパク質」で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筋肉の合成は回復した(さっきの研究)。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92240" y="48463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再現性:◎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やれば、必ず効く。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みんなで考える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417320" cy="141732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問い⑥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743200" y="1554480"/>
            <a:ext cx="8595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バスケの練習や試合で、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メインで使われる燃料はどれ?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0" y="448056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2A3C6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0" y="44805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A:タンパク質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669280" y="448056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2A3C66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0" y="44805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B:糖質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595360" y="448056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2A3C66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0" y="44805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C:脂質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743200" y="5623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挙手で!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体系知識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身体は「車」。燃料は3つある(PFC)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2F5FA"/>
          </a:solidFill>
          <a:ln/>
        </p:spPr>
      </p:sp>
      <p:sp>
        <p:nvSpPr>
          <p:cNvPr id="5" name="Shape 3"/>
          <p:cNvSpPr/>
          <p:nvPr/>
        </p:nvSpPr>
        <p:spPr>
          <a:xfrm>
            <a:off x="1764792" y="2011680"/>
            <a:ext cx="1097280" cy="109728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6" name="Text 4"/>
          <p:cNvSpPr/>
          <p:nvPr/>
        </p:nvSpPr>
        <p:spPr>
          <a:xfrm>
            <a:off x="1764792" y="20116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糖質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= ガソリン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34340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動く・考えるためのエネルギー。バスケのメイン燃料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169164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2F5FA"/>
          </a:solidFill>
          <a:ln/>
        </p:spPr>
      </p:sp>
      <p:sp>
        <p:nvSpPr>
          <p:cNvPr id="11" name="Shape 9"/>
          <p:cNvSpPr/>
          <p:nvPr/>
        </p:nvSpPr>
        <p:spPr>
          <a:xfrm>
            <a:off x="5559552" y="2011680"/>
            <a:ext cx="1097280" cy="109728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5559552" y="20116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4343400" y="32918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タンパク質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343400" y="37947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= 車体・エンジン部品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663440" y="434340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筋肉・骨・血液の材料。身体そのものを作る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38160" y="169164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2F5FA"/>
          </a:solidFill>
          <a:ln/>
        </p:spPr>
      </p:sp>
      <p:sp>
        <p:nvSpPr>
          <p:cNvPr id="17" name="Shape 15"/>
          <p:cNvSpPr/>
          <p:nvPr/>
        </p:nvSpPr>
        <p:spPr>
          <a:xfrm>
            <a:off x="9354312" y="2011680"/>
            <a:ext cx="1097280" cy="1097280"/>
          </a:xfrm>
          <a:prstGeom prst="ellipse">
            <a:avLst/>
          </a:prstGeom>
          <a:solidFill>
            <a:srgbClr val="F0A202"/>
          </a:solidFill>
          <a:ln/>
        </p:spPr>
      </p:sp>
      <p:sp>
        <p:nvSpPr>
          <p:cNvPr id="18" name="Text 16"/>
          <p:cNvSpPr/>
          <p:nvPr/>
        </p:nvSpPr>
        <p:spPr>
          <a:xfrm>
            <a:off x="9354312" y="20116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8138160" y="32918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脂質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138160" y="37947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A20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= エンジンオイル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58200" y="434340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ホルモンの材料。少なすぎも多すぎもNG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覚え方はこれだけ:ガソリン・部品・オイル。次の3枚で1つずつ見ていく。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体系知識  |  C 糖質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糖質 = ガソリン。脳の燃料でもある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577840" cy="2103120"/>
          </a:xfrm>
          <a:prstGeom prst="roundRect">
            <a:avLst>
              <a:gd name="adj" fmla="val 3478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9456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動くエネルギー+脳の燃料(判断力・集中力・シュートの精度)。体内のタンク(筋肉・肝臓)は小さい → 毎食+補食でこまめに補充。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886200"/>
            <a:ext cx="5577840" cy="2103120"/>
          </a:xfrm>
          <a:prstGeom prst="roundRect">
            <a:avLst>
              <a:gd name="adj" fmla="val 3478"/>
            </a:avLst>
          </a:prstGeom>
          <a:solidFill>
            <a:srgbClr val="FBEAE8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4069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不足すると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48056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ガス欠で後半に失速。さらに、筋肉を分解して燃料にしてしまう(=練習するほど筋肉が減る)。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55080" y="1600200"/>
            <a:ext cx="5257800" cy="2651760"/>
          </a:xfrm>
          <a:prstGeom prst="roundRect">
            <a:avLst>
              <a:gd name="adj" fmla="val 2759"/>
            </a:avLst>
          </a:prstGeom>
          <a:solidFill>
            <a:srgbClr val="F2F5FA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1783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食材例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75120" y="21945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ごはん/パン/麺/もち/いも/バナナ/果物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288036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補食向き:おにぎり・カステラ・あんぱん・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エネルギーゼリー・100%ジュース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55080" y="4434840"/>
            <a:ext cx="5257800" cy="1554480"/>
          </a:xfrm>
          <a:prstGeom prst="roundRect">
            <a:avLst>
              <a:gd name="adj" fmla="val 4706"/>
            </a:avLst>
          </a:prstGeom>
          <a:solidFill>
            <a:srgbClr val="FDEBE0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4572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1日の目安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75120" y="49834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体重1kgあたり6〜10g(ハード練習期)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ごはん茶碗1杯 = 糖質約55g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目安:ACSM/栄養士会 共同声明(2016)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体系知識  |  P タンパク質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タンパク質 = 車体と部品。毎食コツコツ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577840" cy="1828800"/>
          </a:xfrm>
          <a:prstGeom prst="roundRect">
            <a:avLst>
              <a:gd name="adj" fmla="val 4000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役割/不足すると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9456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筋肉・骨・血液・腱の材料。足りないと筋肉が増えない・怪我が治りにくい(−27%の話)。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611880"/>
            <a:ext cx="5577840" cy="1234440"/>
          </a:xfrm>
          <a:prstGeom prst="roundRect">
            <a:avLst>
              <a:gd name="adj" fmla="val 5926"/>
            </a:avLst>
          </a:prstGeom>
          <a:solidFill>
            <a:srgbClr val="FDEBE0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749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1日の目安:体重 × 1.5〜1.9g(成長期の高強度競技)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68680" y="4251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2g/kgを超えて摂る必要はない(効果が頭打ち)</a:t>
            </a:r>
            <a:endParaRPr lang="en-US" sz="1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600200"/>
          <a:ext cx="5257800" cy="914400"/>
        </p:xfrm>
        <a:graphic>
          <a:graphicData uri="http://schemas.openxmlformats.org/drawingml/2006/table">
            <a:tbl>
              <a:tblPr/>
              <a:tblGrid>
                <a:gridCol w="3154680"/>
                <a:gridCol w="21031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食品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タンパク質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肉・魚 100g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約20g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卵 1個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約6g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納豆 1パック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約8g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牛乳 コップ1杯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約7g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48640" y="51206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2F5FA"/>
          </a:solidFill>
          <a:ln/>
        </p:spPr>
      </p:sp>
      <p:sp>
        <p:nvSpPr>
          <p:cNvPr id="12" name="Text 9"/>
          <p:cNvSpPr/>
          <p:nvPr/>
        </p:nvSpPr>
        <p:spPr>
          <a:xfrm>
            <a:off x="868680" y="512064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ミニワーク(ペア2分):自分の体重×1.5〜2 = 目標g。さっき書いた「昨日の食事」で何gとれていたか概算してみよう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目安:高強度・断続型競技1.4〜1.7g/kg+成長期1割増し(公開講座p44を2026年基準で更新)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体系知識  |  F 脂質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脂質 = エンジンオイル。ゼロもNG、入れすぎもNG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577840" cy="2011680"/>
          </a:xfrm>
          <a:prstGeom prst="roundRect">
            <a:avLst>
              <a:gd name="adj" fmla="val 3636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A20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945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ホルモンの材料(成長期は特に大事)、細胞膜、長時間運動のエネルギー、ビタミンの吸収。「少なければ少ないほど良い」は誤り。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794760"/>
            <a:ext cx="5577840" cy="2194560"/>
          </a:xfrm>
          <a:prstGeom prst="roundRect">
            <a:avLst>
              <a:gd name="adj" fmla="val 3333"/>
            </a:avLst>
          </a:prstGeom>
          <a:solidFill>
            <a:srgbClr val="E4F1EA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977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良い摂り方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38912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青魚(サバ・イワシ)、卵、ナッツ、オリーブオイル。ふつうの定食を食べていれば自然と摂れる。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55080" y="1600200"/>
            <a:ext cx="5257800" cy="4389120"/>
          </a:xfrm>
          <a:prstGeom prst="roundRect">
            <a:avLst>
              <a:gd name="adj" fmla="val 1667"/>
            </a:avLst>
          </a:prstGeom>
          <a:solidFill>
            <a:srgbClr val="FBEAE8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1783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注意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75120" y="228600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揚げ物・スナック菓子・菓子パンに偏ると、あっという間にオーバーする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消化が遅い → 練習前の補食は「脂質少なめ」が鉄則(あとで実践編に出てくる)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オイルは必要。でも入れすぎた車は重くなる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体系知識  |  問い⑦ 計算ワーク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自分の「必要カロリー」を計算してみよう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83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27.0  ×  自分の体重(kg)  ×  2.00  +  10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基礎代謝基準値(15〜17歳男子)         あなたの体重          バスケ・3時間練習の活動係数         成長分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352044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7033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体重 55kg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114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62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2,980 kcal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343400" y="352044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/>
        </p:spPr>
      </p:sp>
      <p:sp>
        <p:nvSpPr>
          <p:cNvPr id="11" name="Text 9"/>
          <p:cNvSpPr/>
          <p:nvPr/>
        </p:nvSpPr>
        <p:spPr>
          <a:xfrm>
            <a:off x="4343400" y="37033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体重 60kg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343400" y="4114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62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3,250 kcal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138160" y="352044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/>
        </p:spPr>
      </p:sp>
      <p:sp>
        <p:nvSpPr>
          <p:cNvPr id="14" name="Text 12"/>
          <p:cNvSpPr/>
          <p:nvPr/>
        </p:nvSpPr>
        <p:spPr>
          <a:xfrm>
            <a:off x="8138160" y="37033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体重 70kg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38160" y="4114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62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3,790 kcal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77240" y="5029200"/>
            <a:ext cx="10789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バスケは「球技系・激しい」:練習1時間=1.65/2時間=1.80/3時間=2.00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朝ウェイト(週3)はこの式に入っていない → さらに上乗せが必要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個人差が大きいので人と比べない。体重の推移を見ながら調整する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式・係数:日本人の食事摂取基準(2025年版)の基礎代謝基準値/競技別PAL表(公開講座p16-17より・出典を最新版に更新)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体系知識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チームの合言葉:1日 3,000kcal(最低ライン)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E862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</a:t>
            </a:r>
            <a:endParaRPr lang="en-US" sz="10000" dirty="0"/>
          </a:p>
        </p:txBody>
      </p:sp>
      <p:sp>
        <p:nvSpPr>
          <p:cNvPr id="5" name="Text 3"/>
          <p:cNvSpPr/>
          <p:nvPr/>
        </p:nvSpPr>
        <p:spPr>
          <a:xfrm>
            <a:off x="548640" y="33832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kcal / 日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766560" y="1645920"/>
            <a:ext cx="4846320" cy="1325880"/>
          </a:xfrm>
          <a:prstGeom prst="roundRect">
            <a:avLst>
              <a:gd name="adj" fmla="val 5517"/>
            </a:avLst>
          </a:prstGeom>
          <a:solidFill>
            <a:srgbClr val="F2F5FA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0" y="17830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おにぎり約17個分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040880" y="2267712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1個約180kcal。ふつうの3食では2,000〜2,400kcalしか取れない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766560" y="3127248"/>
            <a:ext cx="4846320" cy="1325880"/>
          </a:xfrm>
          <a:prstGeom prst="roundRect">
            <a:avLst>
              <a:gd name="adj" fmla="val 5517"/>
            </a:avLst>
          </a:prstGeom>
          <a:solidFill>
            <a:srgbClr val="F2F5FA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0" y="326440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お父さんの約1.4倍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40880" y="374904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デスクワーク中心の成人男性は約2,200kcal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766560" y="4608576"/>
            <a:ext cx="4846320" cy="1325880"/>
          </a:xfrm>
          <a:prstGeom prst="roundRect">
            <a:avLst>
              <a:gd name="adj" fmla="val 5517"/>
            </a:avLst>
          </a:prstGeom>
          <a:solidFill>
            <a:srgbClr val="F2F5FA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0" y="474573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足りない600〜1,000kcalは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040880" y="5230368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朝食の増量+補食2回で埋める(→実践編へ)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580644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FDEBE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5806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計算値が3,000を超えた選手は、自分の数字が本当の目標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体系知識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3,000kcalを「食材」に翻訳すると</a:t>
            </a:r>
            <a:endParaRPr lang="en-US" sz="25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1264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840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食品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1日の目安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ごはん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900g(茶碗約6杯=1食2杯)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肉/魚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肉100g+魚70g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卵/納豆・豆腐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卵1個+納豆1パック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牛乳・乳製品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600ml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野菜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400g(緑黄色+その他)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いも/果物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いも90g+果物200g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995160" y="1600200"/>
            <a:ext cx="4617720" cy="2286000"/>
          </a:xfrm>
          <a:prstGeom prst="roundRect">
            <a:avLst>
              <a:gd name="adj" fmla="val 3200"/>
            </a:avLst>
          </a:prstGeom>
          <a:solidFill>
            <a:srgbClr val="F2F5FA"/>
          </a:solidFill>
          <a:ln/>
        </p:spPr>
      </p:sp>
      <p:sp>
        <p:nvSpPr>
          <p:cNvPr id="6" name="Text 3"/>
          <p:cNvSpPr/>
          <p:nvPr/>
        </p:nvSpPr>
        <p:spPr>
          <a:xfrm>
            <a:off x="7269480" y="17830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難しく考えなくていい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269480" y="224028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「主食+主菜+副菜+乳製品+果物」の定食の形にすれば、自然とバランス(PFC)は整う。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995160" y="4114800"/>
            <a:ext cx="4617720" cy="1371600"/>
          </a:xfrm>
          <a:prstGeom prst="roundRect">
            <a:avLst>
              <a:gd name="adj" fmla="val 5333"/>
            </a:avLst>
          </a:prstGeom>
          <a:solidFill>
            <a:srgbClr val="FDEBE0"/>
          </a:solidFill>
          <a:ln/>
        </p:spPr>
      </p:sp>
      <p:sp>
        <p:nvSpPr>
          <p:cNvPr id="9" name="Text 6"/>
          <p:cNvSpPr/>
          <p:nvPr/>
        </p:nvSpPr>
        <p:spPr>
          <a:xfrm>
            <a:off x="7269480" y="427939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アスリートは副菜を+1品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269480" y="47548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ふつうの定食より1品多い、が合言葉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この表は保護者の皆さんへ「買い物リスト」として配布します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出典:山梨学院短期大学公開講座(2021)p18の食品構成表(3,000kcal)より/国立スポーツ科学センター「ウイナーズレシピ」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体系知識  |  実例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私の大学時代の食事パターン(週14練+週7筋トレ)</a:t>
            </a:r>
            <a:endParaRPr lang="en-US" sz="25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4066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377440"/>
                <a:gridCol w="38404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時刻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行動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食べていたもの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◯:◯◯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起床・朝食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(あとで記入)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◯:◯◯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午前練習/授業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(あとで記入)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◯:◯◯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昼食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(あとで記入)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◯:◯◯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筋トレ/午後練習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(あとで記入)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◯:◯◯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練習後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(あとで記入)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◯:◯◯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夕食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(あとで記入)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◯:◯◯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就寝前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(あとで記入)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229600" y="160020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2F5FA"/>
          </a:solidFill>
          <a:ln/>
        </p:spPr>
      </p:sp>
      <p:sp>
        <p:nvSpPr>
          <p:cNvPr id="6" name="Text 3"/>
          <p:cNvSpPr/>
          <p:nvPr/>
        </p:nvSpPr>
        <p:spPr>
          <a:xfrm>
            <a:off x="8503920" y="1783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入れると刺さる要素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503920" y="2240280"/>
            <a:ext cx="2880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練習前後で何を食べたか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学食・コンビニの使い方などリアルな工夫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完璧じゃなかった部分も1つ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この食事があったから、あの練習量をこなせた。特別なことではなく、毎日の積み重ね。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実践編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このチームの「おすすめの1日」(約3,000kcal)</a:t>
            </a:r>
            <a:endParaRPr lang="en-US" sz="25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03120"/>
                <a:gridCol w="640080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時刻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食事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内容の例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目安kcal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6:15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ウェイト前(週3)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バナナ+エネルギーゼリー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8:00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朝食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ごはん大盛+卵+納豆+味噌汁+牛乳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12:30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昼食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弁当(ごはん・肉か魚・野菜)+パック牛乳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750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15:30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練習前補食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おにぎり1〜2個+バナナ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16-19時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練習中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スポーツドリンク約1L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19:05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練習直後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寮生:牛乳かゼリー/通い生:おにぎり+牛乳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19:30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夕食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主食+主菜+副菜+汁物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21:30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就寝前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牛乳かヨーグルト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3食は今より「少し増やす」だけ。差がつくのはオレンジの行 = 食事3回 → 6回に増やす発想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実践編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補食セルフチェック:1つでも当てはまれば対象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63040" y="173736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最後の食事から2〜3時間以上空いて練習する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680960" y="173736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昼食12:30 → 練習16:00 = 3.5時間。全員該当!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2F5FA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63040" y="283464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きつい負荷の練習・ウェイトをする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680960" y="283464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毎日の3時間練習+週3朝ウェイト。全員該当!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2F5FA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63040" y="393192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体重・筋量を増やしたい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680960" y="393192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増やしたい人?(挙手)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93776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2F5F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166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463040" y="502920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練習後、夕食まで30分〜1時間以上空く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680960" y="502920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通い生は特にここ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60350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つまり:このチームは全員、補食が「必要」な条件がそろっている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出典:山梨学院短期大学公開講座(2021)p22 のチェックリストを本チームの実情に当てはめ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実践編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練習前の補食は「残り時間」で変える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3931920"/>
          </a:xfrm>
          <a:prstGeom prst="roundRect">
            <a:avLst>
              <a:gd name="adj" fmla="val 1860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練習まで 1.5〜2時間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食事寄りの糖質でOK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おにぎり・巻き寿司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麺類・団子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カステラ・あんぱん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72200" y="1600200"/>
            <a:ext cx="5440680" cy="3931920"/>
          </a:xfrm>
          <a:prstGeom prst="roundRect">
            <a:avLst>
              <a:gd name="adj" fmla="val 1860"/>
            </a:avLst>
          </a:prstGeom>
          <a:solidFill>
            <a:srgbClr val="FDEBE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828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練習まで 1時間以内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2860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消化の早い糖質だけ(15:30の下校後・朝6:15のウェイト前はこちら)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92240" y="292608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バナナ・果物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エネルギーゼリー・100%ジュース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スポーツドリンク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5760720"/>
            <a:ext cx="11064240" cy="685800"/>
          </a:xfrm>
          <a:prstGeom prst="roundRect">
            <a:avLst>
              <a:gd name="adj" fmla="val 10667"/>
            </a:avLst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57607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共通ルール:糖質中心・脂質少なめ(脂質は消化が遅い=オイルはガソリンにならない)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実践編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練習中:体重の2%の脱水でパフォーマンスは落ちる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846320" cy="2286000"/>
          </a:xfrm>
          <a:prstGeom prst="roundRect">
            <a:avLst>
              <a:gd name="adj" fmla="val 3200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830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−2%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822960" y="297180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体重60kgなら約1.2kgの汗で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強い渇き・めまい・集中力低下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4160520"/>
            <a:ext cx="4846320" cy="1965960"/>
          </a:xfrm>
          <a:prstGeom prst="roundRect">
            <a:avLst>
              <a:gd name="adj" fmla="val 3721"/>
            </a:avLst>
          </a:prstGeom>
          <a:solidFill>
            <a:srgbClr val="E4F1E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43434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バスケ選手(12〜15歳)の実験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47548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6%糖質電解質ドリンクは、水よりもシュート成功率とスプリントが向上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0" y="1600200"/>
            <a:ext cx="5943600" cy="4526280"/>
          </a:xfrm>
          <a:prstGeom prst="roundRect">
            <a:avLst>
              <a:gd name="adj" fmla="val 1616"/>
            </a:avLst>
          </a:prstGeom>
          <a:solidFill>
            <a:srgbClr val="F2F5FA"/>
          </a:solidFill>
          <a:ln/>
        </p:spPr>
      </p:sp>
      <p:sp>
        <p:nvSpPr>
          <p:cNvPr id="11" name="Text 9"/>
          <p:cNvSpPr/>
          <p:nvPr/>
        </p:nvSpPr>
        <p:spPr>
          <a:xfrm>
            <a:off x="5989320" y="178308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実践プロトコル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989320" y="228600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練習20〜40分前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01000" y="2286000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250〜500ml(水・麦茶・スポドリ)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89320" y="3218688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練習中(3時間)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01000" y="3218688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1時間あたり500〜1,000mlを15分おきに。合計1.5〜2L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89320" y="4151376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001000" y="4151376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糖質4〜8%+塩分入り = 市販スポーツドリンクがちょうど良い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89320" y="5084064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宿題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001000" y="5084064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明日の練習の前後に体重を測る → 減った分≒汗の量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出典:Dougherty et al. MSSE 2006/公開講座p53-55/日本スポーツ協会 熱中症予防ガイドブック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実践編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何を飲むか:糖質の「濃さ」で選ぶ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51760" cy="3931920"/>
          </a:xfrm>
          <a:prstGeom prst="roundRect">
            <a:avLst>
              <a:gd name="adj" fmla="val 2759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202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28803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水・麦茶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6118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7240" y="420624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練習前・短い運動に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10712" y="1691640"/>
            <a:ext cx="2651760" cy="3931920"/>
          </a:xfrm>
          <a:prstGeom prst="roundRect">
            <a:avLst>
              <a:gd name="adj" fmla="val 2759"/>
            </a:avLst>
          </a:prstGeom>
          <a:solidFill>
            <a:srgbClr val="E4F1EA"/>
          </a:solidFill>
          <a:ln/>
        </p:spPr>
      </p:sp>
      <p:sp>
        <p:nvSpPr>
          <p:cNvPr id="10" name="Text 8"/>
          <p:cNvSpPr/>
          <p:nvPr/>
        </p:nvSpPr>
        <p:spPr>
          <a:xfrm>
            <a:off x="3410712" y="19202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◎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547872" y="28803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スポーツドリンク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10712" y="36118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約6%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39312" y="420624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練習中はこれ。吸収が速い濃度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72784" y="1691640"/>
            <a:ext cx="2651760" cy="3931920"/>
          </a:xfrm>
          <a:prstGeom prst="roundRect">
            <a:avLst>
              <a:gd name="adj" fmla="val 2759"/>
            </a:avLst>
          </a:prstGeom>
          <a:solidFill>
            <a:srgbClr val="FBEAE8"/>
          </a:solidFill>
          <a:ln/>
        </p:spPr>
      </p:sp>
      <p:sp>
        <p:nvSpPr>
          <p:cNvPr id="15" name="Text 13"/>
          <p:cNvSpPr/>
          <p:nvPr/>
        </p:nvSpPr>
        <p:spPr>
          <a:xfrm>
            <a:off x="6272784" y="19202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✗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6409944" y="28803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サイダー・ジュース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72784" y="36118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約11%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501384" y="420624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濃すぎて吸収が遅い。練習中は×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134856" y="1691640"/>
            <a:ext cx="2651760" cy="3931920"/>
          </a:xfrm>
          <a:prstGeom prst="roundRect">
            <a:avLst>
              <a:gd name="adj" fmla="val 2759"/>
            </a:avLst>
          </a:prstGeom>
          <a:solidFill>
            <a:srgbClr val="FBEAE8"/>
          </a:solidFill>
          <a:ln/>
        </p:spPr>
      </p:sp>
      <p:sp>
        <p:nvSpPr>
          <p:cNvPr id="20" name="Text 18"/>
          <p:cNvSpPr/>
          <p:nvPr/>
        </p:nvSpPr>
        <p:spPr>
          <a:xfrm>
            <a:off x="9134856" y="19202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✗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9272016" y="28803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エナジードリンク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34856" y="36118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カフェイン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363456" y="420624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スポーツドリンクではない。×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ペットボトル500mlのサイダー = スティックシュガー約11本分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出典:公開講座p56-57(市販飲料の糖質量・エナジードリンクのカフェイン)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実践編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練習後:回復は3段階で決まる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20440" cy="3017520"/>
          </a:xfrm>
          <a:prstGeom prst="roundRect">
            <a:avLst>
              <a:gd name="adj" fmla="val 2424"/>
            </a:avLst>
          </a:prstGeom>
          <a:solidFill>
            <a:srgbClr val="F2F5FA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874520"/>
            <a:ext cx="566928" cy="566928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1920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練習直後〜早めに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22960" y="265176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糖質+タンパク質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バナナ+牛乳/おにぎり+プロテイン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79476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翌朝7時ウェイトがあるチームは特に有効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1645920"/>
            <a:ext cx="3520440" cy="3017520"/>
          </a:xfrm>
          <a:prstGeom prst="roundRect">
            <a:avLst>
              <a:gd name="adj" fmla="val 2424"/>
            </a:avLst>
          </a:prstGeom>
          <a:solidFill>
            <a:srgbClr val="F2F5FA"/>
          </a:solidFill>
          <a:ln/>
        </p:spPr>
      </p:sp>
      <p:sp>
        <p:nvSpPr>
          <p:cNvPr id="11" name="Shape 9"/>
          <p:cNvSpPr/>
          <p:nvPr/>
        </p:nvSpPr>
        <p:spPr>
          <a:xfrm>
            <a:off x="4617720" y="1874520"/>
            <a:ext cx="566928" cy="566928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303520" y="1920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617720" y="265176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主食+主菜+副菜+汁物で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しっかり(ここが回復の本番)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17720" y="379476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1日の総量が最優先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38160" y="1645920"/>
            <a:ext cx="3520440" cy="3017520"/>
          </a:xfrm>
          <a:prstGeom prst="roundRect">
            <a:avLst>
              <a:gd name="adj" fmla="val 2424"/>
            </a:avLst>
          </a:prstGeom>
          <a:solidFill>
            <a:srgbClr val="F2F5FA"/>
          </a:solidFill>
          <a:ln/>
        </p:spPr>
      </p:sp>
      <p:sp>
        <p:nvSpPr>
          <p:cNvPr id="17" name="Shape 15"/>
          <p:cNvSpPr/>
          <p:nvPr/>
        </p:nvSpPr>
        <p:spPr>
          <a:xfrm>
            <a:off x="8412480" y="1874520"/>
            <a:ext cx="566928" cy="566928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098280" y="1920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睡眠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412480" y="265176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寝ている間に成長ホルモン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=超回復で強くなる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12480" y="379476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8時間以上+毎日同じリズム。朝6時起きなら22時台就寝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493776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5074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寮生(8名)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68680" y="546811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19:30に夕食 → 直後は牛乳・ゼリー程度で軽く。高いサプリは不要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172200" y="493776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DEBE0"/>
          </a:solidFill>
          <a:ln/>
        </p:spPr>
      </p:sp>
      <p:sp>
        <p:nvSpPr>
          <p:cNvPr id="26" name="Text 24"/>
          <p:cNvSpPr/>
          <p:nvPr/>
        </p:nvSpPr>
        <p:spPr>
          <a:xfrm>
            <a:off x="6492240" y="5074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通い生(12名)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492240" y="546811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夕食まで時間が空く → 練習直後の補食が最重要ポイント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公開講座p25「回復のゴールデンタイム」を最新知見(総量優先)で更新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実践編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「お腹いっぱいで食べられない」の解決策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原因はやる気ではなく「タイミングと形」。運動直後に食欲が落ちるのは生理的に普通のこと。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DEBE0"/>
          </a:solidFill>
          <a:ln/>
        </p:spPr>
      </p:sp>
      <p:sp>
        <p:nvSpPr>
          <p:cNvPr id="6" name="Shape 4"/>
          <p:cNvSpPr/>
          <p:nvPr/>
        </p:nvSpPr>
        <p:spPr>
          <a:xfrm>
            <a:off x="804672" y="2249424"/>
            <a:ext cx="457200" cy="45720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249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2103120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おにぎりは「練習前」に回す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577840" y="2103120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練習後ではなく15:30に食べる。同じおにぎりが2倍生きる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72384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2F5FA"/>
          </a:solidFill>
          <a:ln/>
        </p:spPr>
      </p:sp>
      <p:sp>
        <p:nvSpPr>
          <p:cNvPr id="11" name="Shape 9"/>
          <p:cNvSpPr/>
          <p:nvPr/>
        </p:nvSpPr>
        <p:spPr>
          <a:xfrm>
            <a:off x="804672" y="3310128"/>
            <a:ext cx="457200" cy="45720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" y="3310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63040" y="3163824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直後は液体・半固形にする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577840" y="3163824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牛乳・飲むヨーグルト・ゼリー飲料・バナナなら入る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133088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2F5FA"/>
          </a:solidFill>
          <a:ln/>
        </p:spPr>
      </p:sp>
      <p:sp>
        <p:nvSpPr>
          <p:cNvPr id="16" name="Shape 14"/>
          <p:cNvSpPr/>
          <p:nvPr/>
        </p:nvSpPr>
        <p:spPr>
          <a:xfrm>
            <a:off x="804672" y="4370832"/>
            <a:ext cx="457200" cy="45720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4370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63040" y="4224528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分割する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577840" y="4224528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半分を練習前、半分を練習後に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193792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2F5FA"/>
          </a:solidFill>
          <a:ln/>
        </p:spPr>
      </p:sp>
      <p:sp>
        <p:nvSpPr>
          <p:cNvPr id="21" name="Shape 19"/>
          <p:cNvSpPr/>
          <p:nvPr/>
        </p:nvSpPr>
        <p:spPr>
          <a:xfrm>
            <a:off x="804672" y="5431536"/>
            <a:ext cx="457200" cy="45720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63040" y="5285232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少食の人は「めし1口」作戦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577840" y="5285232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まず朝食にごはん1口だけ追加→1週間続いたら昼も1口。胃も練習で大きくなる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「めし1口」:鈴木志保子『理論と実践 スポーツ栄養学』(2018)の段階的増量プラン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実践編  |  クイズ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菓子パンは「菓子」であって「パン」ではない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E4F1E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6596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E7D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◎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29260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ごはん 300g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48640" y="347472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468 kcal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40690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脂質 0.9g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4340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DF3DC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96596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0A20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△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343400" y="29260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メロンパン 1個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4343400" y="347472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279 kcal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343400" y="40690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A20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脂質 8.4g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3816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BEAE8"/>
          </a:solidFill>
          <a:ln/>
        </p:spPr>
      </p:sp>
      <p:sp>
        <p:nvSpPr>
          <p:cNvPr id="15" name="Text 13"/>
          <p:cNvSpPr/>
          <p:nvPr/>
        </p:nvSpPr>
        <p:spPr>
          <a:xfrm>
            <a:off x="8138160" y="196596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✗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8138160" y="29260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クロワッサン 1個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138160" y="347472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219 kcal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138160" y="40690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脂質 13.4g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菓子パンは「ガソリン」のふりをした「オイルの塊」。補食はおにぎり・あんぱん・カステラ系を選ぶ。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数値:公開講座p32より(スライド最終化時に食品成分表〈八訂〉で再確認)/通い生ワーク:「コンビニ500円、練習前用と後用の2袋に分けるなら?」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 保護者の皆さんへ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家庭でのお願いは、3つだけ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おにぎりを持たせるサポートは、すでに正解です。変えるのは「何を」ではなく「いつ」。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40864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3408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00200" y="2167128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朝ごはんの「定食化」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120640" y="2167128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ごはん+タンパク質(卵・納豆・魚)+汁物。特に朝ウェイトの日。朝食を抜くと、せっかくの朝ウェイトが逆効果になりかねません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355848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/>
        </p:spPr>
      </p:sp>
      <p:sp>
        <p:nvSpPr>
          <p:cNvPr id="11" name="Shape 9"/>
          <p:cNvSpPr/>
          <p:nvPr/>
        </p:nvSpPr>
        <p:spPr>
          <a:xfrm>
            <a:off x="822960" y="3639312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6393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00200" y="3465576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補食セットの準備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120640" y="3465576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おにぎり+バナナ+パック牛乳(飲むヨーグルト)。「練習前に食べてね」の一言を添えて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654296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/>
        </p:spPr>
      </p:sp>
      <p:sp>
        <p:nvSpPr>
          <p:cNvPr id="16" name="Shape 14"/>
          <p:cNvSpPr/>
          <p:nvPr/>
        </p:nvSpPr>
        <p:spPr>
          <a:xfrm>
            <a:off x="822960" y="493776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600200" y="4764024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夕食に主菜+副菜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120640" y="4764024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肉・魚・卵・大豆の主菜と野菜の副菜を一品ずつ。3,000kcal食品構成表を買い物リストとしてお使いください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DEBE0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94360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必要量は1日3,000kcal以上=お父さんの約1.4倍。「おかわり」は甘やかしではなくトレーニングです。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 保護者の皆さんへ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よくある質問:プロテイン/骨と貧血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577840" cy="4480560"/>
          </a:xfrm>
          <a:prstGeom prst="roundRect">
            <a:avLst>
              <a:gd name="adj" fmla="val 1633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Q. プロテインは買うべき?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まず食事とタイミングの見直しが先(それで足ります)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寮生は夕食が近いので基本不要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使うなら:食事の代わりにしない/第三者認証(アンチ・ドーピング)のある製品を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F2F5FA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1783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骨(疲労骨折の予防)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675120" y="219456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乳製品600ml/日+小魚・青菜・大豆。牛乳はコップ1杯でカルシウム約220mg。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55080" y="393192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F2F5FA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4114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貧血(スタミナ切れの予防)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75120" y="452628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レバー・赤身肉・あさり・納豆・青菜を意識。疲れやすさが続くときは自己判断のサプリではなく血液検査を。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公開講座p40・42・48の内容を2026年の考え方(食事優先・検査に基づく個別対応)で更新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みんなで考える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417320" cy="141732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問い⑧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743200" y="1554480"/>
            <a:ext cx="8595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今日の話の中で、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明日からまず変える「1つ」は何?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743200" y="47091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1分で書く → ペアで宣言 → 数名が全体に宣言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743200" y="530352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保護者の皆さんからも、ぜひ一言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188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ウィンターカップへの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515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E862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1,100回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1371600" y="397764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食事は1日3回+補食 = 年間約1,100回のトレーニング機会。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練習時間はライバル校と大差ない。差がつくのは残りの21時間。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834640" y="5120640"/>
            <a:ext cx="6492240" cy="868680"/>
          </a:xfrm>
          <a:prstGeom prst="roundRect">
            <a:avLst>
              <a:gd name="adj" fmla="val 10526"/>
            </a:avLst>
          </a:prstGeom>
          <a:solidFill>
            <a:srgbClr val="2A3C66"/>
          </a:solidFill>
          <a:ln/>
        </p:spPr>
      </p:sp>
      <p:sp>
        <p:nvSpPr>
          <p:cNvPr id="6" name="Text 4"/>
          <p:cNvSpPr/>
          <p:nvPr/>
        </p:nvSpPr>
        <p:spPr>
          <a:xfrm>
            <a:off x="2834640" y="5120640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予選まで約120日 × 4回 ≒ 残り500回。勝ちにつなげるか、捨てるか。</a:t>
            </a:r>
            <a:endParaRPr lang="en-US" sz="13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3931920"/>
            <a:ext cx="3840480" cy="384048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377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明日の朝ごはんが、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ウィンターカップへの1回目。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5120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1週間後、補食の写真と練習前後の体重をチームで共有しよう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参考文献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本日の内容の根拠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鈴木睦代「スポーツ栄養学を取り入れた中高生の食教育」山梨学院短期大学 公開講座, 2021(計算式・食品構成・補食・水分補給の枠組み)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厚生労働省「日本人の食事摂取基準(2025年版)」(推定エネルギー必要量・基礎代謝基準値・PFCバランス)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Mountjoy M, et al. IOC consensus statement on REDs. Br J Sports Med 2014/2023(エネルギー不足の影響)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Heikura IA, et al. Int J Sport Nutr Exerc Metab 2018(エネルギー不足と骨ストレス障害 約4.5倍)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Areta JL, et al. Am J Physiol 2014(エネルギー不足で筋タンパク質合成 −27%/運動+タンパク質で回復)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Dougherty KA, et al. Med Sci Sports Exerc 2006(2%脱水でスキル低下/6%糖質電解質ドリンクで向上)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Thomas DT, et al. ACSM/AND/DC Position: Nutrition and Athletic Performance. 2016(糖質6〜10g/kg・タンパク質1.2〜2.0g/kg)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Kerksick CM, et al. ISSN Position Stand: Nutrient Timing. 2017(摂取タイミングの現代的整理)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鈴木志保子「理論と実践 スポーツ栄養学」日本文芸社, 2018(めし1口プラン)/柴田麗「ジュニアのためのスポーツ食事学」(土台の図)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日本スポーツ協会「スポーツ活動中の熱中症予防ガイドブック」(水分補給量の目安)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2026-08-08T06:54:38Z</dcterms:created>
  <dcterms:modified xsi:type="dcterms:W3CDTF">2026-08-08T06:54:38Z</dcterms:modified>
</cp:coreProperties>
</file>